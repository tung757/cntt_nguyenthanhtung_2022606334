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0" r:id="rId7"/>
    <p:sldId id="272" r:id="rId8"/>
    <p:sldId id="261" r:id="rId9"/>
    <p:sldId id="264" r:id="rId10"/>
    <p:sldId id="265" r:id="rId11"/>
    <p:sldId id="266" r:id="rId12"/>
    <p:sldId id="273" r:id="rId13"/>
    <p:sldId id="267" r:id="rId14"/>
    <p:sldId id="274" r:id="rId15"/>
    <p:sldId id="275" r:id="rId16"/>
    <p:sldId id="268" r:id="rId17"/>
    <p:sldId id="269" r:id="rId18"/>
    <p:sldId id="270" r:id="rId19"/>
    <p:sldId id="271" r:id="rId20"/>
    <p:sldId id="276" r:id="rId2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91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05840"/>
            <a:ext cx="3474720" cy="3474720"/>
          </a:xfrm>
          <a:prstGeom prst="ellipse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75488"/>
            <a:ext cx="736125" cy="7498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64208" y="530352"/>
            <a:ext cx="621792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 panose="020B0604020202020204"/>
              </a:rPr>
              <a:t>ĐẠI HỌC CÔNG NGHIỆP HÀ NỘI</a:t>
            </a:r>
            <a:endParaRPr sz="1100" b="1">
              <a:solidFill>
                <a:srgbClr val="FFFFFF"/>
              </a:solidFill>
              <a:latin typeface="Arial" panose="020B0604020202020204"/>
            </a:endParaRPr>
          </a:p>
          <a:p>
            <a:pPr algn="l"/>
            <a:r>
              <a:rPr lang="en-US" sz="1100" b="1">
                <a:solidFill>
                  <a:srgbClr val="FFFFFF"/>
                </a:solidFill>
                <a:latin typeface="Arial" panose="020B0604020202020204"/>
              </a:rPr>
              <a:t>TRƯỜNG CÔNG NGHỆ THÔNG TIN VÀ TRUYỀN THÔNG</a:t>
            </a:r>
            <a:endParaRPr lang="en-US" sz="11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64208" y="945261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BCE1E7"/>
                </a:solidFill>
                <a:latin typeface="Arial" panose="020B0604020202020204"/>
              </a:rPr>
              <a:t>ĐỒ ÁN TỐT NGHIỆP ĐẠI HỌC</a:t>
            </a:r>
            <a:endParaRPr sz="900" b="0">
              <a:solidFill>
                <a:srgbClr val="BCE1E7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1627632"/>
            <a:ext cx="8961120" cy="1430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rial" panose="020B0604020202020204"/>
              </a:rPr>
              <a:t>NGHIÊN CỨU XÂY DỰNG HỆ THỐNG
HỖ TRỢ PHÁT HIỆN SỚM
TÌNH TRẠNG SUY THAI</a:t>
            </a:r>
            <a:r>
              <a:rPr lang="en-US" sz="3100" b="1">
                <a:solidFill>
                  <a:srgbClr val="FFFFFF"/>
                </a:solidFill>
                <a:latin typeface="Arial" panose="020B0604020202020204"/>
              </a:rPr>
              <a:t> </a:t>
            </a:r>
            <a:endParaRPr lang="en-US" sz="31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3712463"/>
            <a:ext cx="8778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C6E8EB"/>
                </a:solidFill>
                <a:latin typeface="Arial" panose="020B0604020202020204"/>
              </a:rPr>
              <a:t>Ứng dụng học máy trong phân loại sức khỏe thai nhi từ dữ liệu CTG</a:t>
            </a:r>
            <a:endParaRPr sz="1300" b="0">
              <a:solidFill>
                <a:srgbClr val="C6E8EB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" y="4681728"/>
            <a:ext cx="4937760" cy="1005840"/>
          </a:xfrm>
          <a:prstGeom prst="roundRect">
            <a:avLst/>
          </a:prstGeom>
          <a:solidFill>
            <a:srgbClr val="143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255" y="4782185"/>
            <a:ext cx="45389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rial" panose="020B0604020202020204"/>
              </a:rPr>
              <a:t>GVHD: ThS. Nguyễn Lan Anh
Sinh viên: Nguyễn Thanh Tùng
Mã sinh viên: 2022606334</a:t>
            </a:r>
            <a:endParaRPr sz="1150" b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555480" y="6199632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>
                <a:solidFill>
                  <a:srgbClr val="D2EBEE"/>
                </a:solidFill>
                <a:latin typeface="Arial" panose="020B0604020202020204"/>
              </a:rPr>
              <a:t>Hà Nội – 2026</a:t>
            </a:r>
            <a:endParaRPr sz="950" b="0">
              <a:solidFill>
                <a:srgbClr val="D2EBEE"/>
              </a:solidFill>
              <a:latin typeface="Arial" panose="020B0604020202020204"/>
            </a:endParaRPr>
          </a:p>
        </p:txBody>
      </p:sp>
      <p:sp>
        <p:nvSpPr>
          <p:cNvPr id="4" name="Oval 3"/>
          <p:cNvSpPr/>
          <p:nvPr/>
        </p:nvSpPr>
        <p:spPr>
          <a:xfrm>
            <a:off x="-1005840" y="5394960"/>
            <a:ext cx="2926080" cy="2926080"/>
          </a:xfrm>
          <a:prstGeom prst="ellipse">
            <a:avLst/>
          </a:prstGeom>
          <a:solidFill>
            <a:srgbClr val="197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05840"/>
            <a:ext cx="3474720" cy="3474720"/>
          </a:xfrm>
          <a:prstGeom prst="ellipse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05840" y="5394960"/>
            <a:ext cx="2926080" cy="2926080"/>
          </a:xfrm>
          <a:prstGeom prst="ellipse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0" y="210312"/>
            <a:ext cx="2834640" cy="329184"/>
          </a:xfrm>
          <a:prstGeom prst="roundRect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B2545"/>
                </a:solidFill>
                <a:latin typeface="Arial" panose="020B0604020202020204"/>
              </a:rPr>
              <a:t>MỤC LỤC</a:t>
            </a:r>
            <a:endParaRPr sz="85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502920"/>
            <a:ext cx="804672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0B2545"/>
                </a:solidFill>
                <a:latin typeface="Arial" panose="020B0604020202020204"/>
              </a:rPr>
              <a:t>Nội dung trình bày</a:t>
            </a:r>
            <a:endParaRPr sz="28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4944" y="1097280"/>
            <a:ext cx="7372350" cy="30670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>
                <a:solidFill>
                  <a:schemeClr val="tx1"/>
                </a:solidFill>
                <a:latin typeface="Arial" panose="020B0604020202020204"/>
              </a:rPr>
              <a:t>Cấu trúc bài báo cáo được rút gọn theo logic: vấn đề → phương pháp → kết quả → kết luận</a:t>
            </a:r>
            <a:endParaRPr sz="140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3676650" cy="13779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9264" y="2152777"/>
            <a:ext cx="82296" cy="786384"/>
          </a:xfrm>
          <a:prstGeom prst="roundRect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1975104"/>
            <a:ext cx="27432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Arial" panose="020B0604020202020204"/>
              </a:rPr>
              <a:t>01. Tổng quan đề tài</a:t>
            </a:r>
            <a:endParaRPr sz="14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43000" y="2263775"/>
            <a:ext cx="3083560" cy="46609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  <a:latin typeface="Arial" panose="020B0604020202020204"/>
              </a:rPr>
              <a:t>Lý do chọn đề tài, mục tiêu và phạm vi nghiên cứu</a:t>
            </a:r>
            <a:endParaRPr sz="1400" b="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577840" y="1828800"/>
            <a:ext cx="3752215" cy="1381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724144" y="2152777"/>
            <a:ext cx="82296" cy="786384"/>
          </a:xfrm>
          <a:prstGeom prst="roundRect">
            <a:avLst/>
          </a:prstGeom>
          <a:solidFill>
            <a:srgbClr val="197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975104"/>
            <a:ext cx="2743200" cy="25082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Arial" panose="020B0604020202020204"/>
              </a:rPr>
              <a:t>02. </a:t>
            </a:r>
            <a:r>
              <a:rPr lang="en-US" sz="1400" b="1">
                <a:solidFill>
                  <a:srgbClr val="0B2545"/>
                </a:solidFill>
                <a:latin typeface="Arial" panose="020B0604020202020204"/>
              </a:rPr>
              <a:t>B</a:t>
            </a:r>
            <a:r>
              <a:rPr sz="1400" b="1">
                <a:solidFill>
                  <a:srgbClr val="0B2545"/>
                </a:solidFill>
                <a:latin typeface="Arial" panose="020B0604020202020204"/>
              </a:rPr>
              <a:t>ài toán</a:t>
            </a:r>
            <a:endParaRPr sz="14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897880" y="2269490"/>
            <a:ext cx="3241675" cy="681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en-US" sz="1400" b="0">
                <a:solidFill>
                  <a:schemeClr val="tx1"/>
                </a:solidFill>
                <a:latin typeface="Arial" panose="020B0604020202020204"/>
              </a:rPr>
              <a:t>Input: Dữ liệu về thai nhi dạng bảng</a:t>
            </a:r>
            <a:endParaRPr lang="en-US" sz="1400" b="0">
              <a:solidFill>
                <a:schemeClr val="tx1"/>
              </a:solidFill>
              <a:latin typeface="Arial" panose="020B0604020202020204"/>
            </a:endParaRPr>
          </a:p>
          <a:p>
            <a:pPr algn="l"/>
            <a:r>
              <a:rPr lang="en-US" sz="1400" b="0">
                <a:solidFill>
                  <a:schemeClr val="tx1"/>
                </a:solidFill>
                <a:latin typeface="Arial" panose="020B0604020202020204"/>
              </a:rPr>
              <a:t>Output: Đầu ra gồm ba lớp bình thường, nghi ngờ và bệnh lý.</a:t>
            </a:r>
            <a:endParaRPr lang="en-US" sz="1400" b="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21690" y="3631565"/>
            <a:ext cx="3678555" cy="139319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9645" y="3995420"/>
            <a:ext cx="81915" cy="869950"/>
          </a:xfrm>
          <a:prstGeom prst="roundRect">
            <a:avLst>
              <a:gd name="adj" fmla="val 17006"/>
            </a:avLst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1730" y="3777615"/>
            <a:ext cx="3108325" cy="3022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Arial" panose="020B0604020202020204"/>
              </a:rPr>
              <a:t>03. </a:t>
            </a:r>
            <a:r>
              <a:rPr lang="en-US" sz="1400" b="1">
                <a:solidFill>
                  <a:srgbClr val="0B2545"/>
                </a:solidFill>
                <a:latin typeface="Arial" panose="020B0604020202020204"/>
              </a:rPr>
              <a:t>Thực nghiệm</a:t>
            </a:r>
            <a:endParaRPr lang="en-US" sz="14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41730" y="4072255"/>
            <a:ext cx="3108325" cy="485775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/>
            <a:r>
              <a:rPr sz="1400" b="0">
                <a:solidFill>
                  <a:schemeClr val="tx1"/>
                </a:solidFill>
                <a:latin typeface="Arial" panose="020B0604020202020204"/>
              </a:rPr>
              <a:t>Tiền xử lý, SMOTE, FCM/MFCM và huấn luyện mô hình</a:t>
            </a:r>
            <a:endParaRPr sz="1400" b="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577840" y="3634740"/>
            <a:ext cx="3780790" cy="136715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724144" y="3998087"/>
            <a:ext cx="82296" cy="786384"/>
          </a:xfrm>
          <a:prstGeom prst="roundRect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80" y="3781044"/>
            <a:ext cx="2743200" cy="25082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Arial" panose="020B0604020202020204"/>
              </a:rPr>
              <a:t>04. </a:t>
            </a:r>
            <a:r>
              <a:rPr lang="en-US" sz="1400" b="1">
                <a:solidFill>
                  <a:srgbClr val="0B2545"/>
                </a:solidFill>
                <a:latin typeface="Arial" panose="020B0604020202020204"/>
              </a:rPr>
              <a:t>Kết luận</a:t>
            </a:r>
            <a:endParaRPr lang="en-US" sz="14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897880" y="4094225"/>
            <a:ext cx="2743200" cy="46609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>
                <a:solidFill>
                  <a:schemeClr val="tx1"/>
                </a:solidFill>
                <a:latin typeface="Arial" panose="020B0604020202020204"/>
                <a:sym typeface="+mn-ea"/>
              </a:rPr>
              <a:t>Kết quả đạt được, hạn chế và hướng phát triển</a:t>
            </a:r>
            <a:endParaRPr sz="1400" b="0">
              <a:solidFill>
                <a:schemeClr val="tx1"/>
              </a:solidFill>
              <a:latin typeface="Arial" panose="020B0604020202020204"/>
              <a:sym typeface="+mn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36880" y="5812790"/>
            <a:ext cx="9875520" cy="202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20" b="1">
                <a:solidFill>
                  <a:srgbClr val="0B2545"/>
                </a:solidFill>
                <a:latin typeface="Arial" panose="020B0604020202020204"/>
              </a:rPr>
              <a:t>Trọng tâm thuyết trình: </a:t>
            </a:r>
            <a:r>
              <a:rPr lang="en-US" sz="1320" b="1">
                <a:solidFill>
                  <a:srgbClr val="0B2545"/>
                </a:solidFill>
                <a:latin typeface="Arial" panose="020B0604020202020204"/>
              </a:rPr>
              <a:t>Q</a:t>
            </a:r>
            <a:r>
              <a:rPr sz="1320" b="1">
                <a:solidFill>
                  <a:srgbClr val="0B2545"/>
                </a:solidFill>
                <a:latin typeface="Arial" panose="020B0604020202020204"/>
              </a:rPr>
              <a:t>uy trình xử lý dữ liệu và kết quả so sánh mô hình.</a:t>
            </a:r>
            <a:endParaRPr sz="132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85800" y="6510528"/>
            <a:ext cx="10835640" cy="9144"/>
          </a:xfrm>
          <a:prstGeom prst="rect">
            <a:avLst/>
          </a:prstGeom>
          <a:solidFill>
            <a:srgbClr val="D2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655624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60">
                <a:solidFill>
                  <a:srgbClr val="6B7280"/>
                </a:solidFill>
                <a:latin typeface="Arial" panose="020B0604020202020204"/>
              </a:rPr>
              <a:t>Đồ án tốt nghiệp CNTT | Hệ thống hỗ trợ phát hiện sớm suy thai</a:t>
            </a:r>
            <a:endParaRPr sz="760">
              <a:solidFill>
                <a:srgbClr val="6B7280"/>
              </a:solidFill>
              <a:latin typeface="Arial" panose="020B060402020202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1064240" y="655624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AA7A3"/>
                </a:solidFill>
                <a:latin typeface="Arial" panose="020B0604020202020204"/>
              </a:rPr>
              <a:t>02</a:t>
            </a:r>
            <a:endParaRPr sz="800" b="1">
              <a:solidFill>
                <a:srgbClr val="2AA7A3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05840"/>
            <a:ext cx="3474720" cy="3474720"/>
          </a:xfrm>
          <a:prstGeom prst="ellipse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05840" y="5394960"/>
            <a:ext cx="2926080" cy="2926080"/>
          </a:xfrm>
          <a:prstGeom prst="ellipse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0" y="210312"/>
            <a:ext cx="2834640" cy="329184"/>
          </a:xfrm>
          <a:prstGeom prst="roundRect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B2545"/>
                </a:solidFill>
                <a:latin typeface="Arial" panose="020B0604020202020204"/>
              </a:rPr>
              <a:t>TỔNG QUAN ĐỀ TÀI</a:t>
            </a:r>
            <a:endParaRPr sz="85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502920"/>
            <a:ext cx="7014210" cy="52197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0B2545"/>
                </a:solidFill>
                <a:latin typeface="Arial" panose="020B0604020202020204"/>
              </a:rPr>
              <a:t>Lý do chọn đề tài</a:t>
            </a:r>
            <a:r>
              <a:rPr lang="en-US" sz="2800" b="1">
                <a:solidFill>
                  <a:srgbClr val="0B2545"/>
                </a:solidFill>
                <a:latin typeface="Arial" panose="020B0604020202020204"/>
              </a:rPr>
              <a:t> và mục tiêu nghiên cứu</a:t>
            </a:r>
            <a:endParaRPr lang="en-US" sz="28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4944" y="1097280"/>
            <a:ext cx="6906895" cy="30670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>
                <a:solidFill>
                  <a:schemeClr val="tx1"/>
                </a:solidFill>
                <a:latin typeface="Arial" panose="020B0604020202020204"/>
              </a:rPr>
              <a:t>Bài toán xuất phát từ nhu cầu phát hiện sớm nguy cơ suy thai trong chăm sóc thai sản</a:t>
            </a:r>
            <a:endParaRPr sz="140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34290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3544" y="1993392"/>
            <a:ext cx="82296" cy="2002536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975104"/>
            <a:ext cx="292608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Arial" panose="020B0604020202020204"/>
              </a:rPr>
              <a:t>Suy thai là biến chứng nguy hiểm</a:t>
            </a:r>
            <a:endParaRPr sz="15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97280" y="2468626"/>
            <a:ext cx="2926080" cy="8972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  <a:latin typeface="Arial" panose="020B0604020202020204"/>
              </a:rPr>
              <a:t>Có thể gây thiếu oxy, ngạt sau sinh, ảnh hưởng đến sự an toàn của thai nhi và sản phụ nếu không được phát hiện kịp thời.</a:t>
            </a:r>
            <a:endParaRPr sz="1400" b="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475980" y="1828800"/>
            <a:ext cx="34290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22284" y="1993392"/>
            <a:ext cx="82296" cy="2002536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96019" y="1975104"/>
            <a:ext cx="292608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Arial" panose="020B0604020202020204"/>
              </a:rPr>
              <a:t>Đánh giá còn phụ thuộc chuyên môn</a:t>
            </a:r>
            <a:endParaRPr sz="15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96019" y="2468626"/>
            <a:ext cx="2926080" cy="8972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  <a:latin typeface="Arial" panose="020B0604020202020204"/>
              </a:rPr>
              <a:t>Theo dõi tim thai, siêu âm, monitoring sản khoa vẫn cần kinh nghiệm bác sĩ; kết quả có thể bị ảnh hưởng bởi điều kiện cơ sở vật chất.</a:t>
            </a:r>
            <a:endParaRPr sz="1400" b="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626610" y="1828800"/>
            <a:ext cx="34290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772914" y="1993392"/>
            <a:ext cx="82296" cy="2002536"/>
          </a:xfrm>
          <a:prstGeom prst="roundRect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46650" y="1975104"/>
            <a:ext cx="292608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Arial" panose="020B0604020202020204"/>
              </a:rPr>
              <a:t>Cơ hội ứng dụng học máy</a:t>
            </a:r>
            <a:endParaRPr sz="15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946650" y="2468626"/>
            <a:ext cx="2926080" cy="8972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  <a:latin typeface="Arial" panose="020B0604020202020204"/>
              </a:rPr>
              <a:t>Phân tích dữ liệu CTG giúp hỗ trợ nhận diện dấu hiệu bất thường nhanh hơn, khách quan hơn và giảm áp lực cho nhân viên y tế.</a:t>
            </a:r>
            <a:endParaRPr sz="1400" b="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005840" y="4846320"/>
            <a:ext cx="10149840" cy="761365"/>
          </a:xfrm>
          <a:prstGeom prst="roundRect">
            <a:avLst/>
          </a:prstGeom>
          <a:solidFill>
            <a:srgbClr val="EB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85800" y="6510528"/>
            <a:ext cx="10835640" cy="9144"/>
          </a:xfrm>
          <a:prstGeom prst="rect">
            <a:avLst/>
          </a:prstGeom>
          <a:solidFill>
            <a:srgbClr val="D2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655624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60">
                <a:solidFill>
                  <a:srgbClr val="6B7280"/>
                </a:solidFill>
                <a:latin typeface="Arial" panose="020B0604020202020204"/>
              </a:rPr>
              <a:t>Đồ án tốt nghiệp CNTT | Hệ thống hỗ trợ phát hiện sớm suy thai</a:t>
            </a:r>
            <a:endParaRPr sz="760">
              <a:solidFill>
                <a:srgbClr val="6B7280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064240" y="655624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AA7A3"/>
                </a:solidFill>
                <a:latin typeface="Arial" panose="020B0604020202020204"/>
              </a:rPr>
              <a:t>03</a:t>
            </a:r>
            <a:endParaRPr sz="800" b="1">
              <a:solidFill>
                <a:srgbClr val="2AA7A3"/>
              </a:solidFill>
              <a:latin typeface="Arial" panose="020B0604020202020204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1257935" y="4841240"/>
            <a:ext cx="9897745" cy="757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b="1">
                <a:latin typeface="Arial" panose="020B0604020202020204"/>
                <a:sym typeface="+mn-ea"/>
              </a:rPr>
              <a:t>Tiếp nhận, xử lý và phân tích dữ liệu thai nhi để đưa ra kết quả hỗ trợ cảnh báo nguy cơ suy thai</a:t>
            </a:r>
            <a:endParaRPr b="1">
              <a:solidFill>
                <a:schemeClr val="tx1"/>
              </a:solidFill>
              <a:latin typeface="Arial" panose="020B0604020202020204"/>
            </a:endParaRPr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05840"/>
            <a:ext cx="3474720" cy="3474720"/>
          </a:xfrm>
          <a:prstGeom prst="ellipse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05840" y="5394960"/>
            <a:ext cx="2926080" cy="2926080"/>
          </a:xfrm>
          <a:prstGeom prst="ellipse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0" y="210312"/>
            <a:ext cx="2834640" cy="329184"/>
          </a:xfrm>
          <a:prstGeom prst="roundRect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B2545"/>
                </a:solidFill>
                <a:latin typeface="Arial" panose="020B0604020202020204"/>
              </a:rPr>
              <a:t>BÀI TOÁN</a:t>
            </a:r>
            <a:endParaRPr sz="85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502920"/>
            <a:ext cx="804672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0B2545"/>
                </a:solidFill>
                <a:latin typeface="Arial" panose="020B0604020202020204"/>
              </a:rPr>
              <a:t>Bài toán nghiên cứu</a:t>
            </a:r>
            <a:endParaRPr sz="28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4944" y="1097280"/>
            <a:ext cx="5307965" cy="30670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>
                <a:solidFill>
                  <a:schemeClr val="tx1"/>
                </a:solidFill>
                <a:latin typeface="Arial" panose="020B0604020202020204"/>
              </a:rPr>
              <a:t>Phân loại tình trạng thai nhi thành 3 mức dựa trên dữ liệu theo dõi</a:t>
            </a:r>
            <a:endParaRPr sz="140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909445" y="1764665"/>
            <a:ext cx="2011680" cy="384048"/>
          </a:xfrm>
          <a:prstGeom prst="roundRect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 panose="020B0604020202020204"/>
              </a:rPr>
              <a:t>INPUT</a:t>
            </a:r>
            <a:endParaRPr sz="11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444105" y="1764665"/>
            <a:ext cx="1920240" cy="384048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 panose="020B0604020202020204"/>
              </a:rPr>
              <a:t>OUTPUT</a:t>
            </a:r>
            <a:endParaRPr sz="11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85800" y="6510528"/>
            <a:ext cx="10835640" cy="9144"/>
          </a:xfrm>
          <a:prstGeom prst="rect">
            <a:avLst/>
          </a:prstGeom>
          <a:solidFill>
            <a:srgbClr val="D2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655624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60">
                <a:solidFill>
                  <a:srgbClr val="6B7280"/>
                </a:solidFill>
                <a:latin typeface="Arial" panose="020B0604020202020204"/>
              </a:rPr>
              <a:t>Đồ án tốt nghiệp CNTT | Hệ thống hỗ trợ phát hiện sớm suy thai</a:t>
            </a:r>
            <a:endParaRPr sz="760">
              <a:solidFill>
                <a:srgbClr val="6B7280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064240" y="655624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AA7A3"/>
                </a:solidFill>
                <a:latin typeface="Arial" panose="020B0604020202020204"/>
              </a:rPr>
              <a:t>05</a:t>
            </a:r>
            <a:endParaRPr sz="800" b="1">
              <a:solidFill>
                <a:srgbClr val="2AA7A3"/>
              </a:solidFill>
              <a:latin typeface="Arial" panose="020B0604020202020204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39725" y="2257425"/>
            <a:ext cx="5151120" cy="268414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 Box 27"/>
              <p:cNvSpPr txBox="1"/>
              <p:nvPr/>
            </p:nvSpPr>
            <p:spPr>
              <a:xfrm>
                <a:off x="494030" y="2371090"/>
                <a:ext cx="4864735" cy="2912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dist"/>
                <a:r>
                  <a:rPr lang="en-US"/>
                  <a:t>Cho tập dữ liệu D={(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, </m:t>
                    </m:r>
                    <m:sSub>
                      <m:sSub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),</a:t>
                </a:r>
                <a:r>
                  <a:rPr lang="en-US">
                    <a:sym typeface="+mn-ea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, </m:t>
                    </m:r>
                    <m:sSub>
                      <m:sSub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>
                    <a:sym typeface="+mn-ea"/>
                  </a:rPr>
                  <a:t>), ...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, </m:t>
                    </m:r>
                    <m:sSub>
                      <m:sSub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>
                    <a:sym typeface="+mn-ea"/>
                  </a:rPr>
                  <a:t>)</a:t>
                </a:r>
                <a:r>
                  <a:rPr lang="en-US"/>
                  <a:t>}</a:t>
                </a:r>
                <a:endParaRPr lang="en-US"/>
              </a:p>
              <a:p>
                <a:pPr algn="l"/>
                <a:r>
                  <a:rPr lang="en-US"/>
                  <a:t>Trong đó:</a:t>
                </a:r>
                <a:endParaRPr lang="en-US"/>
              </a:p>
              <a:p>
                <a:pPr algn="l"/>
                <a:r>
                  <a:rPr lang="en-US"/>
                  <a:t>n: Số lượng mẫu dữ liệu</a:t>
                </a:r>
                <a:endParaRPr lang="en-US"/>
              </a:p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∈ </m:t>
                    </m:r>
                    <m:sSup>
                      <m:sSup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/>
                  <a:t>: Vector đặc trưng của mẫu dữ liệu thứ i,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= (</m:t>
                    </m:r>
                    <m:sSub>
                      <m:sSub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, </m:t>
                    </m:r>
                    <m:sSub>
                      <m:sSub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, ..., </m:t>
                    </m:r>
                    <m:sSub>
                      <m:sSub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𝑖𝑚</m:t>
                        </m:r>
                      </m:sub>
                    </m:sSub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l"/>
                <a:r>
                  <a:rPr lang="en-US">
                    <a:latin typeface="Cambria Math" panose="02040503050406030204" charset="0"/>
                    <a:cs typeface="Cambria Math" panose="02040503050406030204" charset="0"/>
                  </a:rPr>
                  <a:t>m: số thuộc tính</a:t>
                </a:r>
                <a:endParaRPr 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∈ {</m:t>
                    </m:r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1</m:t>
                    </m:r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2</m:t>
                    </m:r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, ..., </m:t>
                    </m:r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𝐾</m:t>
                    </m:r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}</m:t>
                    </m:r>
                  </m:oMath>
                </a14:m>
                <a:r>
                  <a:rPr lang="en-US">
                    <a:latin typeface="Cambria Math" panose="02040503050406030204" charset="0"/>
                    <a:cs typeface="Cambria Math" panose="02040503050406030204" charset="0"/>
                  </a:rPr>
                  <a:t> là nhãn lớp tương ứng</a:t>
                </a:r>
                <a:endParaRPr 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l"/>
                <a:r>
                  <a:rPr lang="en-US">
                    <a:latin typeface="Cambria Math" panose="02040503050406030204" charset="0"/>
                    <a:cs typeface="Cambria Math" panose="02040503050406030204" charset="0"/>
                  </a:rPr>
                  <a:t>K: số lớp cần phân loại</a:t>
                </a:r>
                <a:endParaRPr 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l"/>
                <a:r>
                  <a:rPr lang="en-US" i="1">
                    <a:latin typeface="Cambria Math" panose="02040503050406030204" charset="0"/>
                    <a:cs typeface="Cambria Math" panose="02040503050406030204" charset="0"/>
                  </a:rPr>
                  <a:t>  </a:t>
                </a:r>
                <a:endParaRPr lang="en-US"/>
              </a:p>
              <a:p>
                <a:pPr algn="l"/>
                <a:endParaRPr lang="en-US"/>
              </a:p>
            </p:txBody>
          </p:sp>
        </mc:Choice>
        <mc:Fallback>
          <p:sp>
            <p:nvSpPr>
              <p:cNvPr id="28" name="Text 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30" y="2371090"/>
                <a:ext cx="4864735" cy="291211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ounded Rectangle 28"/>
          <p:cNvSpPr/>
          <p:nvPr/>
        </p:nvSpPr>
        <p:spPr>
          <a:xfrm>
            <a:off x="5867400" y="2257425"/>
            <a:ext cx="5151120" cy="268414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 Box 29"/>
              <p:cNvSpPr txBox="1"/>
              <p:nvPr/>
            </p:nvSpPr>
            <p:spPr>
              <a:xfrm>
                <a:off x="6010910" y="2498090"/>
                <a:ext cx="4864735" cy="12014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/>
                <a:r>
                  <a:rPr lang="en-US"/>
                  <a:t>Học một hàm phân lớp:</a:t>
                </a:r>
                <a:endParaRPr lang="en-US"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𝑓</m:t>
                      </m:r>
                      <m:r>
                        <a:rPr 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: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𝑅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</m:t>
                          </m:r>
                        </m:sup>
                      </m:sSup>
                      <m:r>
                        <a:rPr 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&gt; {</m:t>
                      </m:r>
                      <m:r>
                        <a:rPr 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1</m:t>
                      </m:r>
                      <m:r>
                        <a:rPr 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2</m:t>
                      </m:r>
                      <m:r>
                        <a:rPr 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,...,</m:t>
                      </m:r>
                      <m:r>
                        <a:rPr 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𝐾</m:t>
                      </m:r>
                      <m:r>
                        <a:rPr 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}</m:t>
                      </m:r>
                    </m:oMath>
                  </m:oMathPara>
                </a14:m>
                <a:endParaRPr 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l"/>
                <a:r>
                  <a:rPr lang="en-US"/>
                  <a:t>Sao cho với mỗi mẫu mới x, ta dự đoán được nhãn: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𝑦</m:t>
                    </m:r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 = </m:t>
                    </m:r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𝑓</m:t>
                    </m:r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𝑥</m:t>
                    </m:r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en-US"/>
              </a:p>
            </p:txBody>
          </p:sp>
        </mc:Choice>
        <mc:Fallback>
          <p:sp>
            <p:nvSpPr>
              <p:cNvPr id="30" name="Text 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0910" y="2498090"/>
                <a:ext cx="4864735" cy="12014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71270"/>
            <a:ext cx="10800715" cy="4952365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-1005840" y="5394960"/>
            <a:ext cx="2926080" cy="2926080"/>
          </a:xfrm>
          <a:prstGeom prst="ellipse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02920"/>
            <a:ext cx="804672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0B2545"/>
                </a:solidFill>
                <a:latin typeface="Arial" panose="020B0604020202020204"/>
              </a:rPr>
              <a:t>Quy trình xử lý và huấn luyện đề xuất</a:t>
            </a:r>
            <a:endParaRPr sz="28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85800" y="6510528"/>
            <a:ext cx="10835640" cy="9144"/>
          </a:xfrm>
          <a:prstGeom prst="rect">
            <a:avLst/>
          </a:prstGeom>
          <a:solidFill>
            <a:srgbClr val="D2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655624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60">
                <a:solidFill>
                  <a:srgbClr val="6B7280"/>
                </a:solidFill>
                <a:latin typeface="Arial" panose="020B0604020202020204"/>
              </a:rPr>
              <a:t>Đồ án tốt nghiệp CNTT | Hệ thống hỗ trợ phát hiện sớm suy thai</a:t>
            </a:r>
            <a:endParaRPr sz="760">
              <a:solidFill>
                <a:srgbClr val="6B7280"/>
              </a:solidFill>
              <a:latin typeface="Arial" panose="020B060402020202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1064240" y="655624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AA7A3"/>
                </a:solidFill>
                <a:latin typeface="Arial" panose="020B0604020202020204"/>
              </a:rPr>
              <a:t>08</a:t>
            </a:r>
            <a:endParaRPr sz="800" b="1">
              <a:solidFill>
                <a:srgbClr val="2AA7A3"/>
              </a:solidFill>
              <a:latin typeface="Arial" panose="020B0604020202020204"/>
            </a:endParaRPr>
          </a:p>
        </p:txBody>
      </p:sp>
      <p:sp>
        <p:nvSpPr>
          <p:cNvPr id="3" name="Oval 2"/>
          <p:cNvSpPr/>
          <p:nvPr/>
        </p:nvSpPr>
        <p:spPr>
          <a:xfrm>
            <a:off x="9692640" y="-1005840"/>
            <a:ext cx="3474720" cy="3474720"/>
          </a:xfrm>
          <a:prstGeom prst="ellipse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0" y="210312"/>
            <a:ext cx="2834640" cy="329184"/>
          </a:xfrm>
          <a:prstGeom prst="roundRect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0" b="1">
                <a:solidFill>
                  <a:srgbClr val="0B2545"/>
                </a:solidFill>
                <a:latin typeface="Arial" panose="020B0604020202020204"/>
              </a:rPr>
              <a:t>QUY TRÌNH</a:t>
            </a:r>
            <a:endParaRPr lang="en-US" sz="850" b="1">
              <a:solidFill>
                <a:srgbClr val="0B2545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05840"/>
            <a:ext cx="3474720" cy="3474720"/>
          </a:xfrm>
          <a:prstGeom prst="ellipse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05840" y="5394960"/>
            <a:ext cx="2926080" cy="2926080"/>
          </a:xfrm>
          <a:prstGeom prst="ellipse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0" y="210312"/>
            <a:ext cx="2834640" cy="329184"/>
          </a:xfrm>
          <a:prstGeom prst="roundRect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B2545"/>
                </a:solidFill>
                <a:latin typeface="Arial" panose="020B0604020202020204"/>
              </a:rPr>
              <a:t>DỮ LIỆU</a:t>
            </a:r>
            <a:endParaRPr sz="85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502920"/>
            <a:ext cx="804672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0B2545"/>
                </a:solidFill>
                <a:latin typeface="Arial" panose="020B0604020202020204"/>
              </a:rPr>
              <a:t>Bộ dữ liệu fetal_health</a:t>
            </a:r>
            <a:endParaRPr sz="28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4944" y="1097280"/>
            <a:ext cx="6146165" cy="30670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>
                <a:solidFill>
                  <a:schemeClr val="tx1"/>
                </a:solidFill>
                <a:latin typeface="Arial" panose="020B0604020202020204"/>
              </a:rPr>
              <a:t>Dữ liệu được sử dụng để phân loại sức khỏe thai nhi dựa trên thông tin CTG</a:t>
            </a:r>
            <a:endParaRPr sz="140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22960" y="1783080"/>
            <a:ext cx="21488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84248"/>
            <a:ext cx="21488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500" b="1">
                <a:solidFill>
                  <a:srgbClr val="2AA7A3"/>
                </a:solidFill>
                <a:latin typeface="Arial" panose="020B0604020202020204"/>
              </a:rPr>
              <a:t>2.126</a:t>
            </a:r>
            <a:endParaRPr sz="2500" b="1">
              <a:solidFill>
                <a:srgbClr val="2AA7A3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2496312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6B7280"/>
                </a:solidFill>
                <a:latin typeface="Arial" panose="020B0604020202020204"/>
              </a:rPr>
              <a:t>mẫu dữ liệu</a:t>
            </a:r>
            <a:endParaRPr sz="1050" b="0">
              <a:solidFill>
                <a:srgbClr val="6B7280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246120" y="1783080"/>
            <a:ext cx="21488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984248"/>
            <a:ext cx="21488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500" b="1">
                <a:solidFill>
                  <a:srgbClr val="1976A2"/>
                </a:solidFill>
                <a:latin typeface="Arial" panose="020B0604020202020204"/>
              </a:rPr>
              <a:t>22</a:t>
            </a:r>
            <a:endParaRPr sz="2500" b="1">
              <a:solidFill>
                <a:srgbClr val="1976A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37560" y="2496312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6B7280"/>
                </a:solidFill>
                <a:latin typeface="Arial" panose="020B0604020202020204"/>
              </a:rPr>
              <a:t>thuộc tính dạng số</a:t>
            </a:r>
            <a:endParaRPr sz="1050" b="0">
              <a:solidFill>
                <a:srgbClr val="6B7280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669280" y="1783080"/>
            <a:ext cx="21488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0" y="1984248"/>
            <a:ext cx="21488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500" b="1">
                <a:solidFill>
                  <a:srgbClr val="F4A261"/>
                </a:solidFill>
                <a:latin typeface="Arial" panose="020B0604020202020204"/>
              </a:rPr>
              <a:t>3</a:t>
            </a:r>
            <a:endParaRPr sz="2500" b="1">
              <a:solidFill>
                <a:srgbClr val="F4A261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760720" y="2496312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6B7280"/>
                </a:solidFill>
                <a:latin typeface="Arial" panose="020B0604020202020204"/>
              </a:rPr>
              <a:t>lớp phân loại</a:t>
            </a:r>
            <a:endParaRPr sz="1050" b="0">
              <a:solidFill>
                <a:srgbClr val="6B7280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68680" y="3310128"/>
            <a:ext cx="6126480" cy="155321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1">
                <a:solidFill>
                  <a:srgbClr val="2AA7A3"/>
                </a:solidFill>
                <a:latin typeface="Arial" panose="020B0604020202020204"/>
              </a:rPr>
              <a:t>• </a:t>
            </a:r>
            <a:r>
              <a:rPr sz="1600">
                <a:solidFill>
                  <a:srgbClr val="1F2937"/>
                </a:solidFill>
                <a:latin typeface="Arial" panose="020B0604020202020204"/>
              </a:rPr>
              <a:t>Dữ liệu thuộc lĩnh vực Healthcare Data Science.</a:t>
            </a:r>
            <a:endParaRPr sz="1600">
              <a:solidFill>
                <a:srgbClr val="1F2937"/>
              </a:solidFill>
              <a:latin typeface="Arial" panose="020B0604020202020204"/>
            </a:endParaRP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1">
                <a:solidFill>
                  <a:srgbClr val="2AA7A3"/>
                </a:solidFill>
                <a:latin typeface="Arial" panose="020B0604020202020204"/>
              </a:rPr>
              <a:t>• </a:t>
            </a:r>
            <a:r>
              <a:rPr sz="1600">
                <a:solidFill>
                  <a:srgbClr val="1F2937"/>
                </a:solidFill>
                <a:latin typeface="Arial" panose="020B0604020202020204"/>
              </a:rPr>
              <a:t>Các đặc trưng phản ánh nhịp tim thai, biến thiên nhịp tim, cơn co tử cung và histogram.</a:t>
            </a:r>
            <a:endParaRPr sz="1600">
              <a:solidFill>
                <a:srgbClr val="1F2937"/>
              </a:solidFill>
              <a:latin typeface="Arial" panose="020B0604020202020204"/>
            </a:endParaRP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1">
                <a:solidFill>
                  <a:srgbClr val="2AA7A3"/>
                </a:solidFill>
                <a:latin typeface="Arial" panose="020B0604020202020204"/>
              </a:rPr>
              <a:t>• </a:t>
            </a:r>
            <a:r>
              <a:rPr sz="1600">
                <a:solidFill>
                  <a:srgbClr val="1F2937"/>
                </a:solidFill>
                <a:latin typeface="Arial" panose="020B0604020202020204"/>
              </a:rPr>
              <a:t>Biến mục tiêu: fetal_health với 3 mức bình thường, nghi ngờ và bệnh lý.</a:t>
            </a:r>
            <a:endParaRPr sz="160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814310" y="2710180"/>
            <a:ext cx="4201160" cy="3461385"/>
          </a:xfrm>
          <a:prstGeom prst="roundRect">
            <a:avLst/>
          </a:prstGeom>
          <a:solidFill>
            <a:srgbClr val="FFFFFF"/>
          </a:solidFill>
          <a:ln>
            <a:solidFill>
              <a:srgbClr val="DC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8295" y="3117215"/>
            <a:ext cx="3945890" cy="274447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424545" y="6245479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0">
                <a:solidFill>
                  <a:srgbClr val="6B7280"/>
                </a:solidFill>
                <a:latin typeface="Arial" panose="020B0604020202020204"/>
              </a:rPr>
              <a:t>Ảnh minh họa cấu trúc dữ liệu trong báo cáo</a:t>
            </a:r>
            <a:endParaRPr sz="880" b="0">
              <a:solidFill>
                <a:srgbClr val="6B7280"/>
              </a:solidFill>
              <a:latin typeface="Arial" panose="020B060402020202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85800" y="6510528"/>
            <a:ext cx="10835640" cy="9144"/>
          </a:xfrm>
          <a:prstGeom prst="rect">
            <a:avLst/>
          </a:prstGeom>
          <a:solidFill>
            <a:srgbClr val="D2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55624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60">
                <a:solidFill>
                  <a:srgbClr val="6B7280"/>
                </a:solidFill>
                <a:latin typeface="Arial" panose="020B0604020202020204"/>
              </a:rPr>
              <a:t>Đồ án tốt nghiệp CNTT | Hệ thống hỗ trợ phát hiện sớm suy thai</a:t>
            </a:r>
            <a:endParaRPr sz="760">
              <a:solidFill>
                <a:srgbClr val="6B7280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064240" y="655624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AA7A3"/>
                </a:solidFill>
                <a:latin typeface="Arial" panose="020B0604020202020204"/>
              </a:rPr>
              <a:t>06</a:t>
            </a:r>
            <a:endParaRPr sz="800" b="1">
              <a:solidFill>
                <a:srgbClr val="2AA7A3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62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05840"/>
            <a:ext cx="3474720" cy="3474720"/>
          </a:xfrm>
          <a:prstGeom prst="ellipse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05840" y="5394960"/>
            <a:ext cx="2926080" cy="2926080"/>
          </a:xfrm>
          <a:prstGeom prst="ellipse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0" y="210312"/>
            <a:ext cx="2834640" cy="329184"/>
          </a:xfrm>
          <a:prstGeom prst="roundRect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B2545"/>
                </a:solidFill>
                <a:latin typeface="Arial" panose="020B0604020202020204"/>
              </a:rPr>
              <a:t>PHƯƠNG PHÁP</a:t>
            </a:r>
            <a:endParaRPr sz="85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502920"/>
            <a:ext cx="804672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0B2545"/>
                </a:solidFill>
                <a:latin typeface="Arial" panose="020B0604020202020204"/>
              </a:rPr>
              <a:t>Tiền xử lý dữ liệu</a:t>
            </a:r>
            <a:endParaRPr sz="28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4944" y="1097280"/>
            <a:ext cx="6037580" cy="30670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>
                <a:solidFill>
                  <a:schemeClr val="tx1"/>
                </a:solidFill>
                <a:latin typeface="Arial" panose="020B0604020202020204"/>
              </a:rPr>
              <a:t>Mục tiêu là loại bỏ nhiễu, giảm sai lệch và đưa dữ liệu về thang đo phù hợp</a:t>
            </a:r>
            <a:endParaRPr sz="140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22960" y="1737360"/>
            <a:ext cx="32461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9264" y="1901952"/>
            <a:ext cx="82296" cy="1865376"/>
          </a:xfrm>
          <a:prstGeom prst="roundRect">
            <a:avLst/>
          </a:prstGeom>
          <a:solidFill>
            <a:srgbClr val="197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57016" y="1920240"/>
            <a:ext cx="292608" cy="292608"/>
          </a:xfrm>
          <a:prstGeom prst="ellipse">
            <a:avLst/>
          </a:prstGeom>
          <a:solidFill>
            <a:srgbClr val="197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1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43000" y="1883664"/>
            <a:ext cx="27432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Arial" panose="020B0604020202020204"/>
              </a:rPr>
              <a:t>1. Xử lý Duplicate</a:t>
            </a:r>
            <a:endParaRPr sz="15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43000" y="2322576"/>
            <a:ext cx="2743200" cy="7740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>
                <a:solidFill>
                  <a:schemeClr val="tx1"/>
                </a:solidFill>
                <a:latin typeface="Arial" panose="020B0604020202020204"/>
              </a:rPr>
              <a:t>Loại bỏ các bản ghi trùng lặp nhằm tránh mô hình học lặp lại cùng một mẫu dữ liệu.</a:t>
            </a:r>
            <a:endParaRPr sz="1600" b="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80560" y="1737360"/>
            <a:ext cx="32461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26864" y="1901952"/>
            <a:ext cx="82296" cy="1865376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14615" y="1920240"/>
            <a:ext cx="292608" cy="292608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2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00600" y="1883664"/>
            <a:ext cx="2743200" cy="2660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Arial" panose="020B0604020202020204"/>
              </a:rPr>
              <a:t>2. </a:t>
            </a:r>
            <a:r>
              <a:rPr lang="en-US" sz="1500" b="1">
                <a:solidFill>
                  <a:srgbClr val="0B2545"/>
                </a:solidFill>
                <a:latin typeface="Arial" panose="020B0604020202020204"/>
              </a:rPr>
              <a:t>Xử lý giá trị thiếu</a:t>
            </a:r>
            <a:endParaRPr lang="en-US" sz="15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138160" y="1737360"/>
            <a:ext cx="32461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84464" y="1901952"/>
            <a:ext cx="82296" cy="1865376"/>
          </a:xfrm>
          <a:prstGeom prst="roundRect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872215" y="1920240"/>
            <a:ext cx="292608" cy="292608"/>
          </a:xfrm>
          <a:prstGeom prst="ellipse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3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458200" y="1883664"/>
            <a:ext cx="2743200" cy="2660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Arial" panose="020B0604020202020204"/>
              </a:rPr>
              <a:t>3. </a:t>
            </a:r>
            <a:r>
              <a:rPr sz="1500" b="1">
                <a:solidFill>
                  <a:srgbClr val="0B2545"/>
                </a:solidFill>
                <a:latin typeface="Arial" panose="020B0604020202020204"/>
                <a:sym typeface="+mn-ea"/>
              </a:rPr>
              <a:t>Xử lý Outlier</a:t>
            </a:r>
            <a:endParaRPr sz="15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458200" y="2322576"/>
            <a:ext cx="2743200" cy="102044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en-US" altLang="en-US" sz="1600" b="0">
                <a:solidFill>
                  <a:schemeClr val="tx1"/>
                </a:solidFill>
                <a:latin typeface="Arial" panose="020B0604020202020204"/>
              </a:rPr>
              <a:t>Sử dụng Z-score với ngưỡng 3.5; loại bỏ khoảng 193 điểm dữ liệu lệch xa phân bố chung.</a:t>
            </a:r>
            <a:endParaRPr lang="en-US" altLang="en-US" sz="1600" b="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2194560" y="4892040"/>
            <a:ext cx="7772400" cy="594360"/>
          </a:xfrm>
          <a:prstGeom prst="roundRect">
            <a:avLst/>
          </a:prstGeom>
          <a:solidFill>
            <a:srgbClr val="EB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77440" y="5047488"/>
            <a:ext cx="740664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chemeClr val="tx1"/>
                </a:solidFill>
                <a:latin typeface="Arial" panose="020B0604020202020204"/>
              </a:rPr>
              <a:t>Z-score = (X − μ) / σ    |    Ngưỡng chọn trong thực nghiệm: threshold = 3.5</a:t>
            </a:r>
            <a:endParaRPr sz="1600" b="1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85800" y="6510528"/>
            <a:ext cx="10835640" cy="9144"/>
          </a:xfrm>
          <a:prstGeom prst="rect">
            <a:avLst/>
          </a:prstGeom>
          <a:solidFill>
            <a:srgbClr val="D2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655624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60">
                <a:solidFill>
                  <a:srgbClr val="6B7280"/>
                </a:solidFill>
                <a:latin typeface="Arial" panose="020B0604020202020204"/>
              </a:rPr>
              <a:t>Đồ án tốt nghiệp CNTT | Hệ thống hỗ trợ phát hiện sớm suy thai</a:t>
            </a:r>
            <a:endParaRPr sz="760">
              <a:solidFill>
                <a:srgbClr val="6B7280"/>
              </a:solidFill>
              <a:latin typeface="Arial" panose="020B0604020202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064240" y="655624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AA7A3"/>
                </a:solidFill>
                <a:latin typeface="Arial" panose="020B0604020202020204"/>
              </a:rPr>
              <a:t>09</a:t>
            </a:r>
            <a:endParaRPr sz="800" b="1">
              <a:solidFill>
                <a:srgbClr val="2AA7A3"/>
              </a:solidFill>
              <a:latin typeface="Arial" panose="020B0604020202020204"/>
            </a:endParaRPr>
          </a:p>
        </p:txBody>
      </p:sp>
      <p:sp>
        <p:nvSpPr>
          <p:cNvPr id="34" name="TextBox 22"/>
          <p:cNvSpPr txBox="1"/>
          <p:nvPr/>
        </p:nvSpPr>
        <p:spPr>
          <a:xfrm>
            <a:off x="4805045" y="2322576"/>
            <a:ext cx="2743200" cy="52768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en-US" altLang="en-US" sz="1600" b="0">
                <a:solidFill>
                  <a:schemeClr val="tx1"/>
                </a:solidFill>
                <a:latin typeface="Arial" panose="020B0604020202020204"/>
              </a:rPr>
              <a:t>Tiến hành thay thế các giá trị bị thiếu bằng giá trị median.</a:t>
            </a:r>
            <a:endParaRPr lang="en-US" altLang="en-US" sz="1600" b="0">
              <a:solidFill>
                <a:schemeClr val="tx1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05840"/>
            <a:ext cx="3474720" cy="3474720"/>
          </a:xfrm>
          <a:prstGeom prst="ellipse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05840" y="5394960"/>
            <a:ext cx="2926080" cy="2926080"/>
          </a:xfrm>
          <a:prstGeom prst="ellipse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0" y="210312"/>
            <a:ext cx="2834640" cy="329184"/>
          </a:xfrm>
          <a:prstGeom prst="roundRect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B2545"/>
                </a:solidFill>
                <a:latin typeface="Arial" panose="020B0604020202020204"/>
              </a:rPr>
              <a:t>PHƯƠNG PHÁP</a:t>
            </a:r>
            <a:endParaRPr sz="85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502920"/>
            <a:ext cx="804672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0B2545"/>
                </a:solidFill>
                <a:latin typeface="Arial" panose="020B0604020202020204"/>
              </a:rPr>
              <a:t>Cân bằng dữ liệu bằng SMOTE</a:t>
            </a:r>
            <a:endParaRPr sz="28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4944" y="1097280"/>
            <a:ext cx="6597650" cy="30670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>
                <a:solidFill>
                  <a:schemeClr val="tx1"/>
                </a:solidFill>
                <a:latin typeface="Arial" panose="020B0604020202020204"/>
              </a:rPr>
              <a:t>SMOTE tạo mẫu tổng hợp cho lớp thiểu số để giảm hiện tượng thiên lệch mô hình</a:t>
            </a:r>
            <a:endParaRPr sz="1400">
              <a:solidFill>
                <a:schemeClr val="tx1"/>
              </a:solidFill>
              <a:latin typeface="Arial" panose="020B0604020202020204"/>
            </a:endParaRPr>
          </a:p>
        </p:txBody>
      </p:sp>
      <p:pic>
        <p:nvPicPr>
          <p:cNvPr id="9" name="Picture 8" descr="smote_compa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6675120" cy="352704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818120" y="2361565"/>
            <a:ext cx="3429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964424" y="2526157"/>
            <a:ext cx="82296" cy="722375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507869"/>
            <a:ext cx="292608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Arial" panose="020B0604020202020204"/>
              </a:rPr>
              <a:t>Trước SMOTE</a:t>
            </a:r>
            <a:endParaRPr sz="15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138160" y="2818511"/>
            <a:ext cx="2926080" cy="46609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rial" panose="020B0604020202020204"/>
              </a:rPr>
              <a:t>Lớp 2 và lớp 3 có số lượng mẫu thấp hơn rất nhiều so với lớp 1.</a:t>
            </a:r>
            <a:endParaRPr sz="1400" b="0">
              <a:solidFill>
                <a:srgbClr val="6B7280"/>
              </a:solidFill>
              <a:latin typeface="Arial" panose="020B060402020202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818120" y="3891280"/>
            <a:ext cx="3429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64424" y="4055872"/>
            <a:ext cx="82296" cy="722375"/>
          </a:xfrm>
          <a:prstGeom prst="roundRect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4037584"/>
            <a:ext cx="292608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Arial" panose="020B0604020202020204"/>
              </a:rPr>
              <a:t>Sau SMOTE</a:t>
            </a:r>
            <a:endParaRPr sz="15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38160" y="4311396"/>
            <a:ext cx="2926080" cy="46609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rial" panose="020B0604020202020204"/>
              </a:rPr>
              <a:t>Ba lớp được cân bằng về 1.554 mẫu/lớp.</a:t>
            </a:r>
            <a:endParaRPr sz="1400" b="0">
              <a:solidFill>
                <a:srgbClr val="6B7280"/>
              </a:solidFill>
              <a:latin typeface="Arial" panose="020B060402020202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85800" y="6510528"/>
            <a:ext cx="10835640" cy="9144"/>
          </a:xfrm>
          <a:prstGeom prst="rect">
            <a:avLst/>
          </a:prstGeom>
          <a:solidFill>
            <a:srgbClr val="D2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55624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60">
                <a:solidFill>
                  <a:srgbClr val="6B7280"/>
                </a:solidFill>
                <a:latin typeface="Arial" panose="020B0604020202020204"/>
              </a:rPr>
              <a:t>Đồ án tốt nghiệp CNTT | Hệ thống hỗ trợ phát hiện sớm suy thai</a:t>
            </a:r>
            <a:endParaRPr sz="760">
              <a:solidFill>
                <a:srgbClr val="6B7280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064240" y="655624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AA7A3"/>
                </a:solidFill>
                <a:latin typeface="Arial" panose="020B0604020202020204"/>
              </a:rPr>
              <a:t>10</a:t>
            </a:r>
            <a:endParaRPr sz="800" b="1">
              <a:solidFill>
                <a:srgbClr val="2AA7A3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05840"/>
            <a:ext cx="3474720" cy="3474720"/>
          </a:xfrm>
          <a:prstGeom prst="ellipse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05840" y="5394960"/>
            <a:ext cx="2926080" cy="2926080"/>
          </a:xfrm>
          <a:prstGeom prst="ellipse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0" y="210312"/>
            <a:ext cx="2834640" cy="329184"/>
          </a:xfrm>
          <a:prstGeom prst="roundRect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B2545"/>
                </a:solidFill>
                <a:latin typeface="Arial" panose="020B0604020202020204"/>
              </a:rPr>
              <a:t>PHƯƠNG PHÁP</a:t>
            </a:r>
            <a:endParaRPr sz="85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502920"/>
            <a:ext cx="804672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0B2545"/>
                </a:solidFill>
                <a:latin typeface="Arial" panose="020B0604020202020204"/>
              </a:rPr>
              <a:t>Bổ sung đặc trưng phân cụm</a:t>
            </a:r>
            <a:endParaRPr sz="28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4944" y="1097280"/>
            <a:ext cx="6700520" cy="30670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>
                <a:solidFill>
                  <a:schemeClr val="tx1"/>
                </a:solidFill>
                <a:latin typeface="Arial" panose="020B0604020202020204"/>
              </a:rPr>
              <a:t>FCM/MFCM giúp khai thác thông tin ẩn thông qua mức độ thuộc cụm của từng mẫu</a:t>
            </a:r>
            <a:endParaRPr sz="140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68680" y="1645920"/>
            <a:ext cx="50749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14983" y="1810512"/>
            <a:ext cx="82296" cy="1499616"/>
          </a:xfrm>
          <a:prstGeom prst="roundRect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1792224"/>
            <a:ext cx="45720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>
                <a:solidFill>
                  <a:srgbClr val="0B2545"/>
                </a:solidFill>
                <a:latin typeface="Arial" panose="020B0604020202020204"/>
              </a:rPr>
              <a:t>FCM – Fuzzy C-Means</a:t>
            </a:r>
            <a:endParaRPr sz="16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88719" y="2231136"/>
            <a:ext cx="4572000" cy="11155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 panose="020B0604020202020204"/>
              </a:rPr>
              <a:t>Phân cụm mờ cho dữ liệu số. Trong thực nghiệm chọn c = 2 và ghép 2 giá trị membership vào dữ liệu huấn luyện.</a:t>
            </a:r>
            <a:endParaRPr sz="1200" b="0">
              <a:solidFill>
                <a:srgbClr val="6B7280"/>
              </a:solidFill>
              <a:latin typeface="Arial" panose="020B060402020202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63640" y="1645920"/>
            <a:ext cx="50749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9944" y="1810512"/>
            <a:ext cx="82296" cy="1499616"/>
          </a:xfrm>
          <a:prstGeom prst="roundRect">
            <a:avLst/>
          </a:prstGeom>
          <a:solidFill>
            <a:srgbClr val="197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79" y="1792224"/>
            <a:ext cx="45720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>
                <a:solidFill>
                  <a:srgbClr val="0B2545"/>
                </a:solidFill>
                <a:latin typeface="Arial" panose="020B0604020202020204"/>
              </a:rPr>
              <a:t>MFCM – Modified Fuzzy C-Means</a:t>
            </a:r>
            <a:endParaRPr sz="16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83679" y="2231136"/>
            <a:ext cx="4572000" cy="11155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 panose="020B0604020202020204"/>
              </a:rPr>
              <a:t>Mở rộng FCM theo khoảng cách hỗn hợp và trọng số. Trong thực nghiệm chọn c = 4 và ghép 4 membership features.</a:t>
            </a:r>
            <a:endParaRPr sz="1200" b="0">
              <a:solidFill>
                <a:srgbClr val="6B7280"/>
              </a:solidFill>
              <a:latin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069080" y="3886200"/>
            <a:ext cx="4023360" cy="384048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 panose="020B0604020202020204"/>
              </a:rPr>
              <a:t>Minh họa ma trận membership</a:t>
            </a:r>
            <a:endParaRPr sz="11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743200" y="4572000"/>
            <a:ext cx="1051560" cy="384048"/>
          </a:xfrm>
          <a:prstGeom prst="rect">
            <a:avLst/>
          </a:prstGeom>
          <a:solidFill>
            <a:srgbClr val="0B254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4645152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 panose="020B0604020202020204"/>
              </a:rPr>
              <a:t>mẫu</a:t>
            </a:r>
            <a:endParaRPr sz="95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794760" y="4572000"/>
            <a:ext cx="1051560" cy="384048"/>
          </a:xfrm>
          <a:prstGeom prst="rect">
            <a:avLst/>
          </a:prstGeom>
          <a:solidFill>
            <a:srgbClr val="2AA7A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94760" y="4645152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 panose="020B0604020202020204"/>
              </a:rPr>
              <a:t>C1</a:t>
            </a:r>
            <a:endParaRPr sz="95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846320" y="4572000"/>
            <a:ext cx="1051560" cy="384048"/>
          </a:xfrm>
          <a:prstGeom prst="rect">
            <a:avLst/>
          </a:prstGeom>
          <a:solidFill>
            <a:srgbClr val="2AA7A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4645152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 panose="020B0604020202020204"/>
              </a:rPr>
              <a:t>C2</a:t>
            </a:r>
            <a:endParaRPr sz="95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897879" y="4572000"/>
            <a:ext cx="1051560" cy="384048"/>
          </a:xfrm>
          <a:prstGeom prst="rect">
            <a:avLst/>
          </a:prstGeom>
          <a:solidFill>
            <a:srgbClr val="2AA7A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97879" y="4645152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 panose="020B0604020202020204"/>
              </a:rPr>
              <a:t>C3</a:t>
            </a:r>
            <a:endParaRPr sz="95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949440" y="4572000"/>
            <a:ext cx="1051560" cy="384048"/>
          </a:xfrm>
          <a:prstGeom prst="rect">
            <a:avLst/>
          </a:prstGeom>
          <a:solidFill>
            <a:srgbClr val="2AA7A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4645152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 panose="020B0604020202020204"/>
              </a:rPr>
              <a:t>C4</a:t>
            </a:r>
            <a:endParaRPr sz="95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743200" y="4956048"/>
            <a:ext cx="1051560" cy="384048"/>
          </a:xfrm>
          <a:prstGeom prst="rect">
            <a:avLst/>
          </a:prstGeom>
          <a:solidFill>
            <a:srgbClr val="F6FBFC"/>
          </a:solidFill>
          <a:ln>
            <a:solidFill>
              <a:srgbClr val="E1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0" y="5029200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Arial" panose="020B0604020202020204"/>
              </a:rPr>
              <a:t>x1</a:t>
            </a:r>
            <a:endParaRPr sz="900" b="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794760" y="4956048"/>
            <a:ext cx="10515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1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94760" y="5029200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Arial" panose="020B0604020202020204"/>
              </a:rPr>
              <a:t>0.72</a:t>
            </a:r>
            <a:endParaRPr sz="900" b="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846320" y="4956048"/>
            <a:ext cx="1051560" cy="384048"/>
          </a:xfrm>
          <a:prstGeom prst="rect">
            <a:avLst/>
          </a:prstGeom>
          <a:solidFill>
            <a:srgbClr val="F6FBFC"/>
          </a:solidFill>
          <a:ln>
            <a:solidFill>
              <a:srgbClr val="E1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6320" y="5029200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Arial" panose="020B0604020202020204"/>
              </a:rPr>
              <a:t>0.12</a:t>
            </a:r>
            <a:endParaRPr sz="900" b="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897879" y="4956048"/>
            <a:ext cx="10515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1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97879" y="5029200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Arial" panose="020B0604020202020204"/>
              </a:rPr>
              <a:t>0.10</a:t>
            </a:r>
            <a:endParaRPr sz="900" b="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949440" y="4956048"/>
            <a:ext cx="1051560" cy="384048"/>
          </a:xfrm>
          <a:prstGeom prst="rect">
            <a:avLst/>
          </a:prstGeom>
          <a:solidFill>
            <a:srgbClr val="F6FBFC"/>
          </a:solidFill>
          <a:ln>
            <a:solidFill>
              <a:srgbClr val="E1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49440" y="5029200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Arial" panose="020B0604020202020204"/>
              </a:rPr>
              <a:t>0.06</a:t>
            </a:r>
            <a:endParaRPr sz="900" b="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743200" y="5340096"/>
            <a:ext cx="1051560" cy="384048"/>
          </a:xfrm>
          <a:prstGeom prst="rect">
            <a:avLst/>
          </a:prstGeom>
          <a:solidFill>
            <a:srgbClr val="F6FBFC"/>
          </a:solidFill>
          <a:ln>
            <a:solidFill>
              <a:srgbClr val="E1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0" y="5413248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Arial" panose="020B0604020202020204"/>
              </a:rPr>
              <a:t>x2</a:t>
            </a:r>
            <a:endParaRPr sz="900" b="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794760" y="5340096"/>
            <a:ext cx="10515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1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94760" y="5413248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Arial" panose="020B0604020202020204"/>
              </a:rPr>
              <a:t>0.18</a:t>
            </a:r>
            <a:endParaRPr sz="900" b="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846320" y="5340096"/>
            <a:ext cx="1051560" cy="384048"/>
          </a:xfrm>
          <a:prstGeom prst="rect">
            <a:avLst/>
          </a:prstGeom>
          <a:solidFill>
            <a:srgbClr val="F6FBFC"/>
          </a:solidFill>
          <a:ln>
            <a:solidFill>
              <a:srgbClr val="E1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46320" y="5413248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Arial" panose="020B0604020202020204"/>
              </a:rPr>
              <a:t>0.63</a:t>
            </a:r>
            <a:endParaRPr sz="900" b="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5897879" y="5340096"/>
            <a:ext cx="10515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1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97879" y="5413248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Arial" panose="020B0604020202020204"/>
              </a:rPr>
              <a:t>0.11</a:t>
            </a:r>
            <a:endParaRPr sz="900" b="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6949440" y="5340096"/>
            <a:ext cx="1051560" cy="384048"/>
          </a:xfrm>
          <a:prstGeom prst="rect">
            <a:avLst/>
          </a:prstGeom>
          <a:solidFill>
            <a:srgbClr val="F6FBFC"/>
          </a:solidFill>
          <a:ln>
            <a:solidFill>
              <a:srgbClr val="E1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49440" y="5413248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Arial" panose="020B0604020202020204"/>
              </a:rPr>
              <a:t>0.08</a:t>
            </a:r>
            <a:endParaRPr sz="900" b="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2743200" y="5724144"/>
            <a:ext cx="1051560" cy="384048"/>
          </a:xfrm>
          <a:prstGeom prst="rect">
            <a:avLst/>
          </a:prstGeom>
          <a:solidFill>
            <a:srgbClr val="F6FBFC"/>
          </a:solidFill>
          <a:ln>
            <a:solidFill>
              <a:srgbClr val="E1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0" y="5797296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Arial" panose="020B0604020202020204"/>
              </a:rPr>
              <a:t>x3</a:t>
            </a:r>
            <a:endParaRPr sz="900" b="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3794760" y="5724144"/>
            <a:ext cx="10515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1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94760" y="5797296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Arial" panose="020B0604020202020204"/>
              </a:rPr>
              <a:t>0.09</a:t>
            </a:r>
            <a:endParaRPr sz="900" b="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846320" y="5724144"/>
            <a:ext cx="1051560" cy="384048"/>
          </a:xfrm>
          <a:prstGeom prst="rect">
            <a:avLst/>
          </a:prstGeom>
          <a:solidFill>
            <a:srgbClr val="F6FBFC"/>
          </a:solidFill>
          <a:ln>
            <a:solidFill>
              <a:srgbClr val="E1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46320" y="5797296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Arial" panose="020B0604020202020204"/>
              </a:rPr>
              <a:t>0.16</a:t>
            </a:r>
            <a:endParaRPr sz="900" b="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5897879" y="5724144"/>
            <a:ext cx="10515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1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897879" y="5797296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Arial" panose="020B0604020202020204"/>
              </a:rPr>
              <a:t>0.66</a:t>
            </a:r>
            <a:endParaRPr sz="900" b="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6949440" y="5724144"/>
            <a:ext cx="1051560" cy="384048"/>
          </a:xfrm>
          <a:prstGeom prst="rect">
            <a:avLst/>
          </a:prstGeom>
          <a:solidFill>
            <a:srgbClr val="F6FBFC"/>
          </a:solidFill>
          <a:ln>
            <a:solidFill>
              <a:srgbClr val="E1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49440" y="5797296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Arial" panose="020B0604020202020204"/>
              </a:rPr>
              <a:t>0.09</a:t>
            </a:r>
            <a:endParaRPr sz="900" b="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920240" y="6198870"/>
            <a:ext cx="8138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6B7280"/>
                </a:solidFill>
                <a:latin typeface="Arial" panose="020B0604020202020204"/>
              </a:rPr>
              <a:t>Mỗi mẫu được biểu diễn thêm bằng mức độ thuộc về từng cụm, giúp mô hình có thêm góc nhìn về cấu trúc dữ liệu.</a:t>
            </a:r>
            <a:endParaRPr sz="1150" b="0">
              <a:solidFill>
                <a:srgbClr val="6B7280"/>
              </a:solidFill>
              <a:latin typeface="Arial" panose="020B0604020202020204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85800" y="6510528"/>
            <a:ext cx="10835640" cy="9144"/>
          </a:xfrm>
          <a:prstGeom prst="rect">
            <a:avLst/>
          </a:prstGeom>
          <a:solidFill>
            <a:srgbClr val="D2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5800" y="655624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60">
                <a:solidFill>
                  <a:srgbClr val="6B7280"/>
                </a:solidFill>
                <a:latin typeface="Arial" panose="020B0604020202020204"/>
              </a:rPr>
              <a:t>Đồ án tốt nghiệp CNTT | Hệ thống hỗ trợ phát hiện sớm suy thai</a:t>
            </a:r>
            <a:endParaRPr sz="760">
              <a:solidFill>
                <a:srgbClr val="6B7280"/>
              </a:solidFill>
              <a:latin typeface="Arial" panose="020B0604020202020204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1064240" y="655624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AA7A3"/>
                </a:solidFill>
                <a:latin typeface="Arial" panose="020B0604020202020204"/>
              </a:rPr>
              <a:t>11</a:t>
            </a:r>
            <a:endParaRPr sz="800" b="1">
              <a:solidFill>
                <a:srgbClr val="2AA7A3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05840"/>
            <a:ext cx="3474720" cy="3474720"/>
          </a:xfrm>
          <a:prstGeom prst="ellipse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05840" y="5394960"/>
            <a:ext cx="2926080" cy="2926080"/>
          </a:xfrm>
          <a:prstGeom prst="ellipse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0" y="210312"/>
            <a:ext cx="2834640" cy="329184"/>
          </a:xfrm>
          <a:prstGeom prst="roundRect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B2545"/>
                </a:solidFill>
                <a:latin typeface="Arial" panose="020B0604020202020204"/>
              </a:rPr>
              <a:t>PHƯƠNG PHÁP</a:t>
            </a:r>
            <a:endParaRPr sz="85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502920"/>
            <a:ext cx="804672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0B2545"/>
                </a:solidFill>
                <a:latin typeface="Arial" panose="020B0604020202020204"/>
              </a:rPr>
              <a:t>Bổ sung đặc trưng phân cụm</a:t>
            </a:r>
            <a:endParaRPr sz="28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4944" y="1097280"/>
            <a:ext cx="6700520" cy="30670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>
                <a:solidFill>
                  <a:schemeClr val="tx1"/>
                </a:solidFill>
                <a:latin typeface="Arial" panose="020B0604020202020204"/>
              </a:rPr>
              <a:t>FCM/MFCM giúp khai thác thông tin ẩn thông qua mức độ thuộc cụm của từng mẫu</a:t>
            </a:r>
            <a:endParaRPr sz="140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85800" y="6510528"/>
            <a:ext cx="10835640" cy="9144"/>
          </a:xfrm>
          <a:prstGeom prst="rect">
            <a:avLst/>
          </a:prstGeom>
          <a:solidFill>
            <a:srgbClr val="D2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5800" y="655624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60">
                <a:solidFill>
                  <a:srgbClr val="6B7280"/>
                </a:solidFill>
                <a:latin typeface="Arial" panose="020B0604020202020204"/>
              </a:rPr>
              <a:t>Đồ án tốt nghiệp CNTT | Hệ thống hỗ trợ phát hiện sớm suy thai</a:t>
            </a:r>
            <a:endParaRPr sz="760">
              <a:solidFill>
                <a:srgbClr val="6B7280"/>
              </a:solidFill>
              <a:latin typeface="Arial" panose="020B0604020202020204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1064240" y="655624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AA7A3"/>
                </a:solidFill>
                <a:latin typeface="Arial" panose="020B0604020202020204"/>
              </a:rPr>
              <a:t>11</a:t>
            </a:r>
            <a:endParaRPr sz="800" b="1">
              <a:solidFill>
                <a:srgbClr val="2AA7A3"/>
              </a:solidFill>
              <a:latin typeface="Arial" panose="020B0604020202020204"/>
            </a:endParaRPr>
          </a:p>
        </p:txBody>
      </p:sp>
      <p:pic>
        <p:nvPicPr>
          <p:cNvPr id="62" name="image2.png"/>
          <p:cNvPicPr preferRelativeResize="0"/>
          <p:nvPr/>
        </p:nvPicPr>
        <p:blipFill>
          <a:blip r:embed="rId1"/>
          <a:srcRect/>
          <a:stretch>
            <a:fillRect/>
          </a:stretch>
        </p:blipFill>
        <p:spPr>
          <a:xfrm>
            <a:off x="2826385" y="1463040"/>
            <a:ext cx="6188075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05840"/>
            <a:ext cx="3474720" cy="3474720"/>
          </a:xfrm>
          <a:prstGeom prst="ellipse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05840" y="5394960"/>
            <a:ext cx="2926080" cy="2926080"/>
          </a:xfrm>
          <a:prstGeom prst="ellipse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0" y="210312"/>
            <a:ext cx="2834640" cy="329184"/>
          </a:xfrm>
          <a:prstGeom prst="roundRect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B2545"/>
                </a:solidFill>
                <a:latin typeface="Arial" panose="020B0604020202020204"/>
              </a:rPr>
              <a:t>MÔ HÌNH</a:t>
            </a:r>
            <a:endParaRPr sz="85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502920"/>
            <a:ext cx="804672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0B2545"/>
                </a:solidFill>
                <a:latin typeface="Arial" panose="020B0604020202020204"/>
              </a:rPr>
              <a:t>Mô hình dự đoán</a:t>
            </a:r>
            <a:endParaRPr sz="28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4944" y="1097280"/>
            <a:ext cx="6969760" cy="30670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>
                <a:solidFill>
                  <a:schemeClr val="tx1"/>
                </a:solidFill>
                <a:latin typeface="Arial" panose="020B0604020202020204"/>
              </a:rPr>
              <a:t>Hai thuật toán được sử dụng để so sánh hiệu quả phân loại trên bộ dữ liệu fetal_health</a:t>
            </a:r>
            <a:endParaRPr sz="140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68680" y="1737360"/>
            <a:ext cx="507492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14983" y="1901952"/>
            <a:ext cx="82296" cy="2916936"/>
          </a:xfrm>
          <a:prstGeom prst="roundRect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1883664"/>
            <a:ext cx="45720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>
                <a:solidFill>
                  <a:srgbClr val="0B2545"/>
                </a:solidFill>
                <a:latin typeface="Arial" panose="020B0604020202020204"/>
              </a:rPr>
              <a:t>Random Forest</a:t>
            </a:r>
            <a:endParaRPr sz="20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88719" y="2322576"/>
            <a:ext cx="4572000" cy="126619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>
                <a:solidFill>
                  <a:schemeClr val="tx1"/>
                </a:solidFill>
                <a:latin typeface="Arial" panose="020B0604020202020204"/>
              </a:rPr>
              <a:t>• Tập hợp nhiều cây quyết định
• Hoạt động theo cơ chế bagging
• Giảm phương sai và tăng độ ổn định
• Phù hợp với dữ liệu bảng và ít yêu cầu tinh chỉnh tham số</a:t>
            </a:r>
            <a:endParaRPr sz="1600" b="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63640" y="1737360"/>
            <a:ext cx="507492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9944" y="1901952"/>
            <a:ext cx="82296" cy="2916936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79" y="1883664"/>
            <a:ext cx="45720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>
                <a:solidFill>
                  <a:srgbClr val="0B2545"/>
                </a:solidFill>
                <a:latin typeface="Arial" panose="020B0604020202020204"/>
              </a:rPr>
              <a:t>XGBoost</a:t>
            </a:r>
            <a:endParaRPr sz="20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83679" y="2322576"/>
            <a:ext cx="4572000" cy="126619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>
                <a:solidFill>
                  <a:schemeClr val="tx1"/>
                </a:solidFill>
                <a:latin typeface="Arial" panose="020B0604020202020204"/>
              </a:rPr>
              <a:t>• Thuật toán boosting mạnh cho dữ liệu bảng
• Cây sau sửa lỗi cho cây trước
• Có regularization để kiểm soát độ phức tạp
• Thường đạt hiệu quả cao nhưng nhạy với tham số</a:t>
            </a:r>
            <a:endParaRPr sz="1600" b="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965960" y="5532120"/>
            <a:ext cx="1554480" cy="347472"/>
          </a:xfrm>
          <a:prstGeom prst="roundRect">
            <a:avLst/>
          </a:prstGeom>
          <a:solidFill>
            <a:srgbClr val="F6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20" b="1">
                <a:solidFill>
                  <a:srgbClr val="2AA7A3"/>
                </a:solidFill>
                <a:latin typeface="Arial" panose="020B0604020202020204"/>
              </a:rPr>
              <a:t>Accuracy</a:t>
            </a:r>
            <a:endParaRPr sz="1020" b="1">
              <a:solidFill>
                <a:srgbClr val="2AA7A3"/>
              </a:solidFill>
              <a:latin typeface="Arial" panose="020B060402020202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050791" y="5532120"/>
            <a:ext cx="1554480" cy="347472"/>
          </a:xfrm>
          <a:prstGeom prst="roundRect">
            <a:avLst/>
          </a:prstGeom>
          <a:solidFill>
            <a:srgbClr val="F6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20" b="1">
                <a:solidFill>
                  <a:srgbClr val="1976A2"/>
                </a:solidFill>
                <a:latin typeface="Arial" panose="020B0604020202020204"/>
              </a:rPr>
              <a:t>Precision</a:t>
            </a:r>
            <a:endParaRPr sz="1020" b="1">
              <a:solidFill>
                <a:srgbClr val="1976A2"/>
              </a:solidFill>
              <a:latin typeface="Arial" panose="020B060402020202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135623" y="5532120"/>
            <a:ext cx="1554480" cy="347472"/>
          </a:xfrm>
          <a:prstGeom prst="roundRect">
            <a:avLst/>
          </a:prstGeom>
          <a:solidFill>
            <a:srgbClr val="F6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20" b="1">
                <a:solidFill>
                  <a:srgbClr val="F4A261"/>
                </a:solidFill>
                <a:latin typeface="Arial" panose="020B0604020202020204"/>
              </a:rPr>
              <a:t>Recall</a:t>
            </a:r>
            <a:endParaRPr sz="1020" b="1">
              <a:solidFill>
                <a:srgbClr val="F4A261"/>
              </a:solidFill>
              <a:latin typeface="Arial" panose="020B0604020202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220456" y="5532120"/>
            <a:ext cx="1554480" cy="347472"/>
          </a:xfrm>
          <a:prstGeom prst="roundRect">
            <a:avLst/>
          </a:prstGeom>
          <a:solidFill>
            <a:srgbClr val="F6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20" b="1">
                <a:solidFill>
                  <a:srgbClr val="E76F51"/>
                </a:solidFill>
                <a:latin typeface="Arial" panose="020B0604020202020204"/>
              </a:rPr>
              <a:t>F1-score</a:t>
            </a:r>
            <a:endParaRPr sz="1020" b="1">
              <a:solidFill>
                <a:srgbClr val="E76F51"/>
              </a:solidFill>
              <a:latin typeface="Arial" panose="020B060402020202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85800" y="6510528"/>
            <a:ext cx="10835640" cy="9144"/>
          </a:xfrm>
          <a:prstGeom prst="rect">
            <a:avLst/>
          </a:prstGeom>
          <a:solidFill>
            <a:srgbClr val="D2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655624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60">
                <a:solidFill>
                  <a:srgbClr val="6B7280"/>
                </a:solidFill>
                <a:latin typeface="Arial" panose="020B0604020202020204"/>
              </a:rPr>
              <a:t>Đồ án tốt nghiệp CNTT | Hệ thống hỗ trợ phát hiện sớm suy thai</a:t>
            </a:r>
            <a:endParaRPr sz="760">
              <a:solidFill>
                <a:srgbClr val="6B7280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064240" y="655624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AA7A3"/>
                </a:solidFill>
                <a:latin typeface="Arial" panose="020B0604020202020204"/>
              </a:rPr>
              <a:t>12</a:t>
            </a:r>
            <a:endParaRPr sz="800" b="1">
              <a:solidFill>
                <a:srgbClr val="2AA7A3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05840"/>
            <a:ext cx="3474720" cy="3474720"/>
          </a:xfrm>
          <a:prstGeom prst="ellipse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05840" y="5394960"/>
            <a:ext cx="2926080" cy="2926080"/>
          </a:xfrm>
          <a:prstGeom prst="ellipse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0" y="210312"/>
            <a:ext cx="2834640" cy="329184"/>
          </a:xfrm>
          <a:prstGeom prst="roundRect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B2545"/>
                </a:solidFill>
                <a:latin typeface="Arial" panose="020B0604020202020204"/>
              </a:rPr>
              <a:t>MÔ HÌNH</a:t>
            </a:r>
            <a:endParaRPr sz="85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502920"/>
            <a:ext cx="2606675" cy="52197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lang="en-US" sz="2800" b="1">
                <a:solidFill>
                  <a:srgbClr val="0B2545"/>
                </a:solidFill>
                <a:latin typeface="Arial" panose="020B0604020202020204"/>
              </a:rPr>
              <a:t>Random Forest</a:t>
            </a:r>
            <a:endParaRPr lang="en-US" sz="28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85800" y="6510528"/>
            <a:ext cx="10835640" cy="9144"/>
          </a:xfrm>
          <a:prstGeom prst="rect">
            <a:avLst/>
          </a:prstGeom>
          <a:solidFill>
            <a:srgbClr val="D2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655624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60">
                <a:solidFill>
                  <a:srgbClr val="6B7280"/>
                </a:solidFill>
                <a:latin typeface="Arial" panose="020B0604020202020204"/>
              </a:rPr>
              <a:t>Đồ án tốt nghiệp CNTT | Hệ thống hỗ trợ phát hiện sớm suy thai</a:t>
            </a:r>
            <a:endParaRPr sz="760">
              <a:solidFill>
                <a:srgbClr val="6B7280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064240" y="655624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AA7A3"/>
                </a:solidFill>
                <a:latin typeface="Arial" panose="020B0604020202020204"/>
              </a:rPr>
              <a:t>12</a:t>
            </a:r>
            <a:endParaRPr sz="800" b="1">
              <a:solidFill>
                <a:srgbClr val="2AA7A3"/>
              </a:solidFill>
              <a:latin typeface="Arial" panose="020B0604020202020204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895985" y="13779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Cách thức hoạt động</a:t>
            </a:r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895985" y="1929130"/>
            <a:ext cx="834199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/>
              <a:t>Tạo nhiều cây quyết </a:t>
            </a:r>
            <a:r>
              <a:rPr lang="en-US" altLang="en-US"/>
              <a:t>đ</a:t>
            </a:r>
            <a:r>
              <a:rPr lang="en-US" altLang="en-US"/>
              <a:t>ịnh: Thuật toán tạo ra nhiều cây quyết </a:t>
            </a:r>
            <a:r>
              <a:rPr lang="en-US" altLang="en-US"/>
              <a:t>đ</a:t>
            </a:r>
            <a:r>
              <a:rPr lang="en-US" altLang="en-US"/>
              <a:t>ịnh, mỗi cây sử dụng một phần dữ liệu ngẫu nhiên.</a:t>
            </a:r>
            <a:endParaRPr lang="en-US" altLang="en-US"/>
          </a:p>
          <a:p>
            <a:pPr indent="0">
              <a:buFont typeface="Wingdings" panose="05000000000000000000" charset="0"/>
              <a:buNone/>
            </a:pPr>
            <a:endParaRPr lang="en-US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/>
              <a:t>Chọn các </a:t>
            </a:r>
            <a:r>
              <a:rPr lang="en-US" altLang="en-US"/>
              <a:t>đ</a:t>
            </a:r>
            <a:r>
              <a:rPr lang="en-US" altLang="en-US"/>
              <a:t>ặc </a:t>
            </a:r>
            <a:r>
              <a:rPr lang="en-US" altLang="en-US"/>
              <a:t>đ</a:t>
            </a:r>
            <a:r>
              <a:rPr lang="en-US" altLang="en-US"/>
              <a:t>iểm ngẫu nhiên: Nó chọn ngẫu nhiên một vài </a:t>
            </a:r>
            <a:r>
              <a:rPr lang="en-US" altLang="en-US"/>
              <a:t>đ</a:t>
            </a:r>
            <a:r>
              <a:rPr lang="en-US" altLang="en-US"/>
              <a:t>ặc </a:t>
            </a:r>
            <a:r>
              <a:rPr lang="en-US" altLang="en-US"/>
              <a:t>đ</a:t>
            </a:r>
            <a:r>
              <a:rPr lang="en-US" altLang="en-US"/>
              <a:t>iểm </a:t>
            </a:r>
            <a:r>
              <a:rPr lang="en-US" altLang="en-US"/>
              <a:t>đ</a:t>
            </a:r>
            <a:r>
              <a:rPr lang="en-US" altLang="en-US"/>
              <a:t>ể quyết </a:t>
            </a:r>
            <a:r>
              <a:rPr lang="en-US" altLang="en-US"/>
              <a:t>đ</a:t>
            </a:r>
            <a:r>
              <a:rPr lang="en-US" altLang="en-US"/>
              <a:t>ịnh cách phân chia dữ liệu. </a:t>
            </a:r>
            <a:r>
              <a:rPr lang="en-US" altLang="en-US"/>
              <a:t>Đ</a:t>
            </a:r>
            <a:r>
              <a:rPr lang="en-US" altLang="en-US"/>
              <a:t>iều này giúp các cây khác nhau hơn.</a:t>
            </a:r>
            <a:endParaRPr lang="en-US" altLang="en-US"/>
          </a:p>
          <a:p>
            <a:pPr indent="0">
              <a:buFont typeface="Wingdings" panose="05000000000000000000" charset="0"/>
              <a:buNone/>
            </a:pPr>
            <a:endParaRPr lang="en-US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/>
              <a:t>Mỗi cây </a:t>
            </a:r>
            <a:r>
              <a:rPr lang="en-US" altLang="en-US"/>
              <a:t>đư</a:t>
            </a:r>
            <a:r>
              <a:rPr lang="en-US" altLang="en-US"/>
              <a:t>a ra một dự </a:t>
            </a:r>
            <a:r>
              <a:rPr lang="en-US" altLang="en-US"/>
              <a:t>đ</a:t>
            </a:r>
            <a:r>
              <a:rPr lang="en-US" altLang="en-US"/>
              <a:t>oán: Mỗi cây </a:t>
            </a:r>
            <a:r>
              <a:rPr lang="en-US" altLang="en-US"/>
              <a:t>đư</a:t>
            </a:r>
            <a:r>
              <a:rPr lang="en-US" altLang="en-US"/>
              <a:t>a ra câu trả lời hoặc dự </a:t>
            </a:r>
            <a:r>
              <a:rPr lang="en-US" altLang="en-US"/>
              <a:t>đ</a:t>
            </a:r>
            <a:r>
              <a:rPr lang="en-US" altLang="en-US"/>
              <a:t>oán riêng dựa trên những gì nó học </a:t>
            </a:r>
            <a:r>
              <a:rPr lang="en-US" altLang="en-US"/>
              <a:t>đư</a:t>
            </a:r>
            <a:r>
              <a:rPr lang="en-US" altLang="en-US"/>
              <a:t>ợc từ phần dữ liệu của mình.</a:t>
            </a:r>
            <a:endParaRPr lang="en-US" altLang="en-US"/>
          </a:p>
          <a:p>
            <a:pPr indent="0">
              <a:buFont typeface="Wingdings" panose="05000000000000000000" charset="0"/>
              <a:buNone/>
            </a:pPr>
            <a:endParaRPr lang="en-US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/>
              <a:t>Kết hợp các dự </a:t>
            </a:r>
            <a:r>
              <a:rPr lang="en-US" altLang="en-US"/>
              <a:t>đ</a:t>
            </a:r>
            <a:r>
              <a:rPr lang="en-US" altLang="en-US"/>
              <a:t>oán: </a:t>
            </a:r>
            <a:r>
              <a:rPr lang="en-US" altLang="en-US"/>
              <a:t>Đ</a:t>
            </a:r>
            <a:r>
              <a:rPr lang="en-US" altLang="en-US"/>
              <a:t>ối với phân loại, câu trả lời cuối cùng là hạng mục mà </a:t>
            </a:r>
            <a:r>
              <a:rPr lang="en-US" altLang="en-US"/>
              <a:t>đ</a:t>
            </a:r>
            <a:r>
              <a:rPr lang="en-US" altLang="en-US"/>
              <a:t>a số cây quyết </a:t>
            </a:r>
            <a:r>
              <a:rPr lang="en-US" altLang="en-US"/>
              <a:t>đ</a:t>
            </a:r>
            <a:r>
              <a:rPr lang="en-US" altLang="en-US"/>
              <a:t>ịnh (bỏ phiếu theo </a:t>
            </a:r>
            <a:r>
              <a:rPr lang="en-US" altLang="en-US"/>
              <a:t>đ</a:t>
            </a:r>
            <a:r>
              <a:rPr lang="en-US" altLang="en-US"/>
              <a:t>a số).</a:t>
            </a:r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05840"/>
            <a:ext cx="3474720" cy="3474720"/>
          </a:xfrm>
          <a:prstGeom prst="ellipse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05840" y="5394960"/>
            <a:ext cx="2926080" cy="2926080"/>
          </a:xfrm>
          <a:prstGeom prst="ellipse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0" y="210312"/>
            <a:ext cx="2834640" cy="329184"/>
          </a:xfrm>
          <a:prstGeom prst="roundRect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B2545"/>
                </a:solidFill>
                <a:latin typeface="Arial" panose="020B0604020202020204"/>
              </a:rPr>
              <a:t>MÔ HÌNH</a:t>
            </a:r>
            <a:endParaRPr sz="85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502920"/>
            <a:ext cx="1520825" cy="52197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lang="en-US" sz="2800" b="1">
                <a:solidFill>
                  <a:srgbClr val="0B2545"/>
                </a:solidFill>
                <a:latin typeface="Arial" panose="020B0604020202020204"/>
              </a:rPr>
              <a:t>XGBoost</a:t>
            </a:r>
            <a:endParaRPr lang="en-US" sz="28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85800" y="6510528"/>
            <a:ext cx="10835640" cy="9144"/>
          </a:xfrm>
          <a:prstGeom prst="rect">
            <a:avLst/>
          </a:prstGeom>
          <a:solidFill>
            <a:srgbClr val="D2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655624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60">
                <a:solidFill>
                  <a:srgbClr val="6B7280"/>
                </a:solidFill>
                <a:latin typeface="Arial" panose="020B0604020202020204"/>
              </a:rPr>
              <a:t>Đồ án tốt nghiệp CNTT | Hệ thống hỗ trợ phát hiện sớm suy thai</a:t>
            </a:r>
            <a:endParaRPr sz="760">
              <a:solidFill>
                <a:srgbClr val="6B7280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064240" y="655624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AA7A3"/>
                </a:solidFill>
                <a:latin typeface="Arial" panose="020B0604020202020204"/>
              </a:rPr>
              <a:t>12</a:t>
            </a:r>
            <a:endParaRPr sz="800" b="1">
              <a:solidFill>
                <a:srgbClr val="2AA7A3"/>
              </a:solidFill>
              <a:latin typeface="Arial" panose="020B0604020202020204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895985" y="13779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ym typeface="+mn-ea"/>
              </a:rPr>
              <a:t>Cách thức hoạt động</a:t>
            </a:r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895985" y="1929130"/>
            <a:ext cx="834199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/>
              <a:t>Bắt </a:t>
            </a:r>
            <a:r>
              <a:rPr lang="en-US" altLang="en-US"/>
              <a:t>đ</a:t>
            </a:r>
            <a:r>
              <a:rPr lang="en-US" altLang="en-US"/>
              <a:t>ầu với một mô hình cơ bản : Cây quyết </a:t>
            </a:r>
            <a:r>
              <a:rPr lang="en-US" altLang="en-US"/>
              <a:t>đ</a:t>
            </a:r>
            <a:r>
              <a:rPr lang="en-US" altLang="en-US"/>
              <a:t>ịnh của mô hình </a:t>
            </a:r>
            <a:r>
              <a:rPr lang="en-US" altLang="en-US"/>
              <a:t>đ</a:t>
            </a:r>
            <a:r>
              <a:rPr lang="en-US" altLang="en-US"/>
              <a:t>ầu tiên </a:t>
            </a:r>
            <a:r>
              <a:rPr lang="en-US" altLang="en-US"/>
              <a:t>đư</a:t>
            </a:r>
            <a:r>
              <a:rPr lang="en-US" altLang="en-US"/>
              <a:t>ợc huấn luyện trên dữ liệu.</a:t>
            </a:r>
            <a:endParaRPr lang="en-US" altLang="en-US"/>
          </a:p>
          <a:p>
            <a:pPr indent="0">
              <a:buFont typeface="Wingdings" panose="05000000000000000000" charset="0"/>
              <a:buNone/>
            </a:pPr>
            <a:endParaRPr lang="en-US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/>
              <a:t>Tính toán sai số : Sau khi huấn luyện cây quyết </a:t>
            </a:r>
            <a:r>
              <a:rPr lang="en-US" altLang="en-US"/>
              <a:t>đ</a:t>
            </a:r>
            <a:r>
              <a:rPr lang="en-US" altLang="en-US"/>
              <a:t>ịnh </a:t>
            </a:r>
            <a:r>
              <a:rPr lang="en-US" altLang="en-US"/>
              <a:t>đ</a:t>
            </a:r>
            <a:r>
              <a:rPr lang="en-US" altLang="en-US"/>
              <a:t>ầu tiên, sai số giữa giá trị dự </a:t>
            </a:r>
            <a:r>
              <a:rPr lang="en-US" altLang="en-US"/>
              <a:t>đ</a:t>
            </a:r>
            <a:r>
              <a:rPr lang="en-US" altLang="en-US"/>
              <a:t>oán và giá trị thực tế sẽ </a:t>
            </a:r>
            <a:r>
              <a:rPr lang="en-US" altLang="en-US"/>
              <a:t>đư</a:t>
            </a:r>
            <a:r>
              <a:rPr lang="en-US" altLang="en-US"/>
              <a:t>ợc tính toán.</a:t>
            </a:r>
            <a:endParaRPr lang="en-US" altLang="en-US"/>
          </a:p>
          <a:p>
            <a:pPr indent="0">
              <a:buFont typeface="Wingdings" panose="05000000000000000000" charset="0"/>
              <a:buNone/>
            </a:pPr>
            <a:endParaRPr lang="en-US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/>
              <a:t>Huấn luyện cây tiếp theo : Cây tiếp theo </a:t>
            </a:r>
            <a:r>
              <a:rPr lang="en-US" altLang="en-US"/>
              <a:t>đư</a:t>
            </a:r>
            <a:r>
              <a:rPr lang="en-US" altLang="en-US"/>
              <a:t>ợc huấn luyện dựa trên các lỗi của cây tr</a:t>
            </a:r>
            <a:r>
              <a:rPr lang="en-US" altLang="en-US"/>
              <a:t>ư</a:t>
            </a:r>
            <a:r>
              <a:rPr lang="en-US" altLang="en-US"/>
              <a:t>ớc </a:t>
            </a:r>
            <a:r>
              <a:rPr lang="en-US" altLang="en-US"/>
              <a:t>đ</a:t>
            </a:r>
            <a:r>
              <a:rPr lang="en-US" altLang="en-US"/>
              <a:t>ó. B</a:t>
            </a:r>
            <a:r>
              <a:rPr lang="en-US" altLang="en-US"/>
              <a:t>ư</a:t>
            </a:r>
            <a:r>
              <a:rPr lang="en-US" altLang="en-US"/>
              <a:t>ớc này nhằm mục </a:t>
            </a:r>
            <a:r>
              <a:rPr lang="en-US" altLang="en-US"/>
              <a:t>đ</a:t>
            </a:r>
            <a:r>
              <a:rPr lang="en-US" altLang="en-US"/>
              <a:t>ích sửa chữa các lỗi mà cây </a:t>
            </a:r>
            <a:r>
              <a:rPr lang="en-US" altLang="en-US"/>
              <a:t>đ</a:t>
            </a:r>
            <a:r>
              <a:rPr lang="en-US" altLang="en-US"/>
              <a:t>ầu tiên </a:t>
            </a:r>
            <a:r>
              <a:rPr lang="en-US" altLang="en-US"/>
              <a:t>đ</a:t>
            </a:r>
            <a:r>
              <a:rPr lang="en-US" altLang="en-US"/>
              <a:t>ã mắc phải.</a:t>
            </a:r>
            <a:endParaRPr lang="en-US" altLang="en-US"/>
          </a:p>
          <a:p>
            <a:pPr indent="0">
              <a:buFont typeface="Wingdings" panose="05000000000000000000" charset="0"/>
              <a:buNone/>
            </a:pPr>
            <a:endParaRPr lang="en-US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/>
              <a:t>Lặp lại quy trình : Quy trình này tiếp tục với mỗi cây mới, cố gắng sửa chữa các lỗi của các cây tr</a:t>
            </a:r>
            <a:r>
              <a:rPr lang="en-US" altLang="en-US"/>
              <a:t>ư</a:t>
            </a:r>
            <a:r>
              <a:rPr lang="en-US" altLang="en-US"/>
              <a:t>ớc </a:t>
            </a:r>
            <a:r>
              <a:rPr lang="en-US" altLang="en-US"/>
              <a:t>đ</a:t>
            </a:r>
            <a:r>
              <a:rPr lang="en-US" altLang="en-US"/>
              <a:t>ó cho </a:t>
            </a:r>
            <a:r>
              <a:rPr lang="en-US" altLang="en-US"/>
              <a:t>đ</a:t>
            </a:r>
            <a:r>
              <a:rPr lang="en-US" altLang="en-US"/>
              <a:t>ến khi </a:t>
            </a:r>
            <a:r>
              <a:rPr lang="en-US" altLang="en-US"/>
              <a:t>đ</a:t>
            </a:r>
            <a:r>
              <a:rPr lang="en-US" altLang="en-US"/>
              <a:t>ạt </a:t>
            </a:r>
            <a:r>
              <a:rPr lang="en-US" altLang="en-US"/>
              <a:t>đư</a:t>
            </a:r>
            <a:r>
              <a:rPr lang="en-US" altLang="en-US"/>
              <a:t>ợc tiêu chí dừng.</a:t>
            </a:r>
            <a:endParaRPr lang="en-US" altLang="en-US"/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/>
              <a:t>Kết hợp các dự </a:t>
            </a:r>
            <a:r>
              <a:rPr lang="en-US" altLang="en-US"/>
              <a:t>đ</a:t>
            </a:r>
            <a:r>
              <a:rPr lang="en-US" altLang="en-US"/>
              <a:t>oán : Dự </a:t>
            </a:r>
            <a:r>
              <a:rPr lang="en-US" altLang="en-US"/>
              <a:t>đ</a:t>
            </a:r>
            <a:r>
              <a:rPr lang="en-US" altLang="en-US"/>
              <a:t>oán cuối cùng là tổng của các dự </a:t>
            </a:r>
            <a:r>
              <a:rPr lang="en-US" altLang="en-US"/>
              <a:t>đ</a:t>
            </a:r>
            <a:r>
              <a:rPr lang="en-US" altLang="en-US"/>
              <a:t>oán từ tất cả các cây quyết </a:t>
            </a:r>
            <a:r>
              <a:rPr lang="en-US" altLang="en-US"/>
              <a:t>đ</a:t>
            </a:r>
            <a:r>
              <a:rPr lang="en-US" altLang="en-US"/>
              <a:t>ịnh.</a:t>
            </a:r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985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05840"/>
            <a:ext cx="3474720" cy="3474720"/>
          </a:xfrm>
          <a:prstGeom prst="ellipse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0" y="210312"/>
            <a:ext cx="2834640" cy="329184"/>
          </a:xfrm>
          <a:prstGeom prst="roundRect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B2545"/>
                </a:solidFill>
                <a:latin typeface="Arial" panose="020B0604020202020204"/>
              </a:rPr>
              <a:t>THỰC NGHIỆM</a:t>
            </a:r>
            <a:endParaRPr sz="85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502920"/>
            <a:ext cx="804672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0B2545"/>
                </a:solidFill>
                <a:latin typeface="Arial" panose="020B0604020202020204"/>
              </a:rPr>
              <a:t>Kết quả thực nghiệm</a:t>
            </a:r>
            <a:endParaRPr sz="28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4944" y="1097280"/>
            <a:ext cx="5662930" cy="30670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>
                <a:solidFill>
                  <a:schemeClr val="tx1"/>
                </a:solidFill>
                <a:latin typeface="Arial" panose="020B0604020202020204"/>
              </a:rPr>
              <a:t>So sánh hiệu năng Random Forest và XGBoost trên 4 kịch bản dữ liệu</a:t>
            </a:r>
            <a:endParaRPr sz="140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543800" y="1600200"/>
            <a:ext cx="3291840" cy="384048"/>
          </a:xfrm>
          <a:prstGeom prst="roundRect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 panose="020B0604020202020204"/>
              </a:rPr>
              <a:t>Tổng hợp Accuracy</a:t>
            </a:r>
            <a:endParaRPr sz="1100" b="1">
              <a:solidFill>
                <a:srgbClr val="FFFFFF"/>
              </a:solidFill>
              <a:latin typeface="Arial" panose="020B0604020202020204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60920" y="2148840"/>
          <a:ext cx="37033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051560"/>
                <a:gridCol w="105156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Kịch bản</a:t>
                      </a:r>
                      <a:endParaRPr sz="95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R</a:t>
                      </a:r>
                      <a:r>
                        <a:rPr lang="en-US" sz="95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andomForest</a:t>
                      </a:r>
                      <a:endParaRPr lang="en-US" sz="95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XGB</a:t>
                      </a:r>
                      <a:r>
                        <a:rPr lang="en-US" sz="95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oost</a:t>
                      </a:r>
                      <a:endParaRPr lang="en-US" sz="95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>
                    <a:solidFill>
                      <a:srgbClr val="0B254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Thô</a:t>
                      </a:r>
                      <a:endParaRPr sz="86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>
                    <a:solidFill>
                      <a:srgbClr val="F8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0B2545"/>
                          </a:solidFill>
                          <a:latin typeface="Arial" panose="020B0604020202020204"/>
                        </a:rPr>
                        <a:t>92,7%</a:t>
                      </a:r>
                      <a:endParaRPr sz="860" b="1">
                        <a:solidFill>
                          <a:srgbClr val="0B2545"/>
                        </a:solidFill>
                        <a:latin typeface="Arial" panose="020B0604020202020204"/>
                      </a:endParaRPr>
                    </a:p>
                  </a:txBody>
                  <a:tcPr>
                    <a:solidFill>
                      <a:srgbClr val="F8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0B2545"/>
                          </a:solidFill>
                          <a:latin typeface="Arial" panose="020B0604020202020204"/>
                        </a:rPr>
                        <a:t>94,1%</a:t>
                      </a:r>
                      <a:endParaRPr sz="860" b="1">
                        <a:solidFill>
                          <a:srgbClr val="0B2545"/>
                        </a:solidFill>
                        <a:latin typeface="Arial" panose="020B0604020202020204"/>
                      </a:endParaRPr>
                    </a:p>
                  </a:txBody>
                  <a:tcPr>
                    <a:solidFill>
                      <a:srgbClr val="F8FCF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Z-score + SMOTE</a:t>
                      </a:r>
                      <a:endParaRPr sz="86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0B2545"/>
                          </a:solidFill>
                          <a:latin typeface="Arial" panose="020B0604020202020204"/>
                        </a:rPr>
                        <a:t>98,4%</a:t>
                      </a:r>
                      <a:endParaRPr sz="860" b="1">
                        <a:solidFill>
                          <a:srgbClr val="0B2545"/>
                        </a:solidFill>
                        <a:latin typeface="Arial" panose="020B060402020202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0B2545"/>
                          </a:solidFill>
                          <a:latin typeface="Arial" panose="020B0604020202020204"/>
                        </a:rPr>
                        <a:t>98,8%</a:t>
                      </a:r>
                      <a:endParaRPr sz="860" b="1">
                        <a:solidFill>
                          <a:srgbClr val="0B2545"/>
                        </a:solidFill>
                        <a:latin typeface="Arial" panose="020B060402020202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1F2937"/>
                          </a:solidFill>
                          <a:latin typeface="Arial" panose="020B0604020202020204"/>
                          <a:sym typeface="+mn-ea"/>
                        </a:rPr>
                        <a:t>Z-score + SMOTE</a:t>
                      </a:r>
                      <a:r>
                        <a:rPr lang="en-US" sz="860" b="1">
                          <a:solidFill>
                            <a:srgbClr val="1F2937"/>
                          </a:solidFill>
                          <a:latin typeface="Arial" panose="020B0604020202020204"/>
                          <a:sym typeface="+mn-ea"/>
                        </a:rPr>
                        <a:t> </a:t>
                      </a:r>
                      <a:r>
                        <a:rPr sz="86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+ MFCM</a:t>
                      </a:r>
                      <a:endParaRPr sz="86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>
                    <a:solidFill>
                      <a:srgbClr val="F8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0B2545"/>
                          </a:solidFill>
                          <a:latin typeface="Arial" panose="020B0604020202020204"/>
                        </a:rPr>
                        <a:t>98,6%</a:t>
                      </a:r>
                      <a:endParaRPr sz="860" b="1">
                        <a:solidFill>
                          <a:srgbClr val="0B2545"/>
                        </a:solidFill>
                        <a:latin typeface="Arial" panose="020B0604020202020204"/>
                      </a:endParaRPr>
                    </a:p>
                  </a:txBody>
                  <a:tcPr>
                    <a:solidFill>
                      <a:srgbClr val="F8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0B2545"/>
                          </a:solidFill>
                          <a:latin typeface="Arial" panose="020B0604020202020204"/>
                        </a:rPr>
                        <a:t>98,8%</a:t>
                      </a:r>
                      <a:endParaRPr sz="860" b="1">
                        <a:solidFill>
                          <a:srgbClr val="0B2545"/>
                        </a:solidFill>
                        <a:latin typeface="Arial" panose="020B0604020202020204"/>
                      </a:endParaRPr>
                    </a:p>
                  </a:txBody>
                  <a:tcPr>
                    <a:solidFill>
                      <a:srgbClr val="F8FCF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1F2937"/>
                          </a:solidFill>
                          <a:latin typeface="Arial" panose="020B0604020202020204"/>
                          <a:sym typeface="+mn-ea"/>
                        </a:rPr>
                        <a:t>Z-score + SMOTE</a:t>
                      </a:r>
                      <a:r>
                        <a:rPr lang="en-US" sz="860" b="1">
                          <a:solidFill>
                            <a:srgbClr val="1F2937"/>
                          </a:solidFill>
                          <a:latin typeface="Arial" panose="020B0604020202020204"/>
                          <a:sym typeface="+mn-ea"/>
                        </a:rPr>
                        <a:t> </a:t>
                      </a:r>
                      <a:r>
                        <a:rPr sz="86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+ FCM</a:t>
                      </a:r>
                      <a:endParaRPr sz="86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0B2545"/>
                          </a:solidFill>
                          <a:latin typeface="Arial" panose="020B0604020202020204"/>
                        </a:rPr>
                        <a:t>98,5%</a:t>
                      </a:r>
                      <a:endParaRPr sz="860" b="1">
                        <a:solidFill>
                          <a:srgbClr val="0B2545"/>
                        </a:solidFill>
                        <a:latin typeface="Arial" panose="020B060402020202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0B2545"/>
                          </a:solidFill>
                          <a:latin typeface="Arial" panose="020B0604020202020204"/>
                        </a:rPr>
                        <a:t>98,8%</a:t>
                      </a:r>
                      <a:endParaRPr sz="860" b="1">
                        <a:solidFill>
                          <a:srgbClr val="0B2545"/>
                        </a:solidFill>
                        <a:latin typeface="Arial" panose="020B060402020202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452360" y="4709160"/>
            <a:ext cx="3657600" cy="927100"/>
          </a:xfrm>
          <a:prstGeom prst="roundRect">
            <a:avLst/>
          </a:prstGeom>
          <a:solidFill>
            <a:srgbClr val="EB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4855464"/>
            <a:ext cx="347472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1">
                <a:solidFill>
                  <a:srgbClr val="0B2545"/>
                </a:solidFill>
                <a:latin typeface="Arial" panose="020B0604020202020204"/>
              </a:rPr>
              <a:t>Tổng kết:</a:t>
            </a:r>
            <a:endParaRPr lang="en-US" sz="1300" b="1">
              <a:solidFill>
                <a:srgbClr val="0B2545"/>
              </a:solidFill>
              <a:latin typeface="Arial" panose="020B0604020202020204"/>
            </a:endParaRPr>
          </a:p>
          <a:p>
            <a:pPr algn="l"/>
            <a:r>
              <a:rPr lang="en-US" sz="1300" b="1">
                <a:solidFill>
                  <a:srgbClr val="0B2545"/>
                </a:solidFill>
                <a:latin typeface="Arial" panose="020B0604020202020204"/>
              </a:rPr>
              <a:t>RandomForest: 98,6%</a:t>
            </a:r>
            <a:endParaRPr lang="en-US" sz="1300" b="1">
              <a:solidFill>
                <a:srgbClr val="0B2545"/>
              </a:solidFill>
              <a:latin typeface="Arial" panose="020B0604020202020204"/>
            </a:endParaRPr>
          </a:p>
          <a:p>
            <a:pPr algn="l"/>
            <a:r>
              <a:rPr lang="en-US" sz="1300" b="1">
                <a:solidFill>
                  <a:srgbClr val="0B2545"/>
                </a:solidFill>
                <a:latin typeface="Arial" panose="020B0604020202020204"/>
              </a:rPr>
              <a:t>XGBoost: 98,8%</a:t>
            </a:r>
            <a:endParaRPr lang="en-US" sz="13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064240" y="655624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AA7A3"/>
                </a:solidFill>
                <a:latin typeface="Arial" panose="020B0604020202020204"/>
              </a:rPr>
              <a:t>13</a:t>
            </a:r>
            <a:endParaRPr sz="800" b="1">
              <a:solidFill>
                <a:srgbClr val="2AA7A3"/>
              </a:solidFill>
              <a:latin typeface="Arial" panose="020B0604020202020204"/>
            </a:endParaRPr>
          </a:p>
        </p:txBody>
      </p:sp>
      <p:pic>
        <p:nvPicPr>
          <p:cNvPr id="17" name="Picture 16" descr="outpu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240" y="1821180"/>
            <a:ext cx="6805295" cy="385191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-1005840" y="5394960"/>
            <a:ext cx="2926080" cy="2926080"/>
          </a:xfrm>
          <a:prstGeom prst="ellipse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55624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60">
                <a:solidFill>
                  <a:srgbClr val="6B7280"/>
                </a:solidFill>
                <a:latin typeface="Arial" panose="020B0604020202020204"/>
              </a:rPr>
              <a:t>Đồ án tốt nghiệp CNTT | Hệ thống hỗ trợ phát hiện sớm suy thai</a:t>
            </a:r>
            <a:endParaRPr sz="760">
              <a:solidFill>
                <a:srgbClr val="6B7280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85800" y="6510528"/>
            <a:ext cx="10835640" cy="9144"/>
          </a:xfrm>
          <a:prstGeom prst="rect">
            <a:avLst/>
          </a:prstGeom>
          <a:solidFill>
            <a:srgbClr val="D2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05840"/>
            <a:ext cx="3474720" cy="3474720"/>
          </a:xfrm>
          <a:prstGeom prst="ellipse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05840" y="5394960"/>
            <a:ext cx="2926080" cy="2926080"/>
          </a:xfrm>
          <a:prstGeom prst="ellipse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0" y="210312"/>
            <a:ext cx="2834640" cy="329184"/>
          </a:xfrm>
          <a:prstGeom prst="roundRect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B2545"/>
                </a:solidFill>
                <a:latin typeface="Arial" panose="020B0604020202020204"/>
              </a:rPr>
              <a:t>THỰC NGHIỆM</a:t>
            </a:r>
            <a:endParaRPr sz="85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502920"/>
            <a:ext cx="804672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0B2545"/>
                </a:solidFill>
                <a:latin typeface="Arial" panose="020B0604020202020204"/>
              </a:rPr>
              <a:t>Nhận xét và lựa chọn mô hình</a:t>
            </a:r>
            <a:endParaRPr sz="28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4944" y="1097280"/>
            <a:ext cx="5664200" cy="30670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>
                <a:solidFill>
                  <a:schemeClr val="tx1"/>
                </a:solidFill>
                <a:latin typeface="Arial" panose="020B0604020202020204"/>
              </a:rPr>
              <a:t>Kết quả cho thấy tiền xử lý và cân bằng dữ liệu đóng vai trò quyết định</a:t>
            </a:r>
            <a:endParaRPr sz="140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77240" y="1691640"/>
            <a:ext cx="498348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3544" y="1856232"/>
            <a:ext cx="82296" cy="877824"/>
          </a:xfrm>
          <a:prstGeom prst="roundRect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248656" y="1874520"/>
            <a:ext cx="292608" cy="292608"/>
          </a:xfrm>
          <a:prstGeom prst="ellipse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1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97280" y="1837944"/>
            <a:ext cx="448056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Arial" panose="020B0604020202020204"/>
              </a:rPr>
              <a:t>SMOTE cải thiện rõ rệt</a:t>
            </a:r>
            <a:endParaRPr sz="15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24585" y="2144141"/>
            <a:ext cx="4480560" cy="46609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>
                <a:solidFill>
                  <a:schemeClr val="tx1"/>
                </a:solidFill>
                <a:latin typeface="Arial" panose="020B0604020202020204"/>
              </a:rPr>
              <a:t>Random Forest tăng từ 92,7% lên 98,4%; XGBoost tăng từ 94,1% lên 98,8%.</a:t>
            </a:r>
            <a:endParaRPr sz="140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63640" y="1691640"/>
            <a:ext cx="498348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9944" y="1856232"/>
            <a:ext cx="82296" cy="877824"/>
          </a:xfrm>
          <a:prstGeom prst="roundRect">
            <a:avLst/>
          </a:prstGeom>
          <a:solidFill>
            <a:srgbClr val="197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735056" y="1874520"/>
            <a:ext cx="292608" cy="292608"/>
          </a:xfrm>
          <a:prstGeom prst="ellipse">
            <a:avLst/>
          </a:prstGeom>
          <a:solidFill>
            <a:srgbClr val="197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2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83679" y="1837944"/>
            <a:ext cx="448056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Arial" panose="020B0604020202020204"/>
              </a:rPr>
              <a:t>MFCM giúp Random Forest tăng nhẹ</a:t>
            </a:r>
            <a:endParaRPr sz="15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83679" y="2144141"/>
            <a:ext cx="4480560" cy="46609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  <a:latin typeface="Arial" panose="020B0604020202020204"/>
              </a:rPr>
              <a:t>Khi bổ sung membership từ MFCM, Random Forest đạt 98,6%.</a:t>
            </a:r>
            <a:endParaRPr sz="1400" b="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77240" y="3291840"/>
            <a:ext cx="498348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3544" y="3456432"/>
            <a:ext cx="82296" cy="877824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248656" y="3474720"/>
            <a:ext cx="292608" cy="292608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3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97280" y="3438144"/>
            <a:ext cx="448056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Arial" panose="020B0604020202020204"/>
              </a:rPr>
              <a:t>XGBoost ổn định nhất</a:t>
            </a:r>
            <a:endParaRPr sz="15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24585" y="3799586"/>
            <a:ext cx="4480560" cy="46609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  <a:latin typeface="Arial" panose="020B0604020202020204"/>
              </a:rPr>
              <a:t>XGBoost duy trì 98,8% sau các bước bổ sung đặc trưng phân cụm.</a:t>
            </a:r>
            <a:endParaRPr sz="1400" b="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263640" y="3291840"/>
            <a:ext cx="498348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9944" y="3456432"/>
            <a:ext cx="82296" cy="877824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35056" y="3474720"/>
            <a:ext cx="292608" cy="292608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4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583679" y="3438144"/>
            <a:ext cx="448056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Arial" panose="020B0604020202020204"/>
              </a:rPr>
              <a:t>Ý nghĩa thực nghiệm</a:t>
            </a:r>
            <a:endParaRPr sz="15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83679" y="3799586"/>
            <a:ext cx="4480560" cy="46609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  <a:latin typeface="Arial" panose="020B0604020202020204"/>
              </a:rPr>
              <a:t>Quy trình xử lý dữ liệu giúp mô hình nhận diện tốt hơn các lớp thiểu số.</a:t>
            </a:r>
            <a:endParaRPr sz="1400" b="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1188720" y="5166360"/>
            <a:ext cx="9784080" cy="68580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17320" y="5358384"/>
            <a:ext cx="9326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 panose="020B0604020202020204"/>
              </a:rPr>
              <a:t>Mô hình khuyến nghị trong phạm vi thực nghiệm: XGBoost + dữ liệu đã xử lý + SMOTE + đặc trưng MFCM</a:t>
            </a:r>
            <a:endParaRPr sz="14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85800" y="6510528"/>
            <a:ext cx="10835640" cy="9144"/>
          </a:xfrm>
          <a:prstGeom prst="rect">
            <a:avLst/>
          </a:prstGeom>
          <a:solidFill>
            <a:srgbClr val="D2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655624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60">
                <a:solidFill>
                  <a:srgbClr val="6B7280"/>
                </a:solidFill>
                <a:latin typeface="Arial" panose="020B0604020202020204"/>
              </a:rPr>
              <a:t>Đồ án tốt nghiệp CNTT | Hệ thống hỗ trợ phát hiện sớm suy thai</a:t>
            </a:r>
            <a:endParaRPr sz="760">
              <a:solidFill>
                <a:srgbClr val="6B7280"/>
              </a:solidFill>
              <a:latin typeface="Arial" panose="020B060402020202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1064240" y="655624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AA7A3"/>
                </a:solidFill>
                <a:latin typeface="Arial" panose="020B0604020202020204"/>
              </a:rPr>
              <a:t>14</a:t>
            </a:r>
            <a:endParaRPr sz="800" b="1">
              <a:solidFill>
                <a:srgbClr val="2AA7A3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05840"/>
            <a:ext cx="3474720" cy="3474720"/>
          </a:xfrm>
          <a:prstGeom prst="ellipse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05840" y="5394960"/>
            <a:ext cx="2926080" cy="2926080"/>
          </a:xfrm>
          <a:prstGeom prst="ellipse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0" y="210312"/>
            <a:ext cx="2834640" cy="329184"/>
          </a:xfrm>
          <a:prstGeom prst="roundRect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B2545"/>
                </a:solidFill>
                <a:latin typeface="Arial" panose="020B0604020202020204"/>
              </a:rPr>
              <a:t>HỆ THỐNG</a:t>
            </a:r>
            <a:endParaRPr sz="85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502920"/>
            <a:ext cx="804672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0B2545"/>
                </a:solidFill>
                <a:latin typeface="Arial" panose="020B0604020202020204"/>
              </a:rPr>
              <a:t>Hệ thống dự đoán dữ liệu</a:t>
            </a:r>
            <a:endParaRPr sz="28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4944" y="1097280"/>
            <a:ext cx="5602605" cy="30670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>
                <a:solidFill>
                  <a:schemeClr val="tx1"/>
                </a:solidFill>
                <a:latin typeface="Arial" panose="020B0604020202020204"/>
              </a:rPr>
              <a:t>Minh họa luồng xử lý khi người dùng gửi dữ liệu đầu vào lên hệ thống</a:t>
            </a:r>
            <a:endParaRPr sz="140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14400" y="1965960"/>
            <a:ext cx="1600200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AA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40" b="1">
                <a:solidFill>
                  <a:srgbClr val="0B2545"/>
                </a:solidFill>
                <a:latin typeface="Arial" panose="020B0604020202020204"/>
              </a:rPr>
              <a:t>Người dùng
nhập chỉ số</a:t>
            </a:r>
            <a:endParaRPr sz="1040" b="1">
              <a:solidFill>
                <a:srgbClr val="0B2545"/>
              </a:solidFill>
              <a:latin typeface="Arial" panose="020B0604020202020204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2560320" y="2350008"/>
            <a:ext cx="320040" cy="0"/>
          </a:xfrm>
          <a:prstGeom prst="line">
            <a:avLst/>
          </a:prstGeom>
          <a:ln w="20320">
            <a:solidFill>
              <a:srgbClr val="2AA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26080" y="1965960"/>
            <a:ext cx="1600200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976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40" b="1">
                <a:solidFill>
                  <a:srgbClr val="0B2545"/>
                </a:solidFill>
                <a:latin typeface="Arial" panose="020B0604020202020204"/>
              </a:rPr>
              <a:t>API nhận
dữ liệu</a:t>
            </a:r>
            <a:endParaRPr sz="1040" b="1">
              <a:solidFill>
                <a:srgbClr val="0B2545"/>
              </a:solidFill>
              <a:latin typeface="Arial" panose="020B0604020202020204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4572000" y="2350008"/>
            <a:ext cx="320040" cy="0"/>
          </a:xfrm>
          <a:prstGeom prst="line">
            <a:avLst/>
          </a:prstGeom>
          <a:ln w="20320">
            <a:solidFill>
              <a:srgbClr val="2AA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937760" y="1965960"/>
            <a:ext cx="1600200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40" b="1">
                <a:solidFill>
                  <a:srgbClr val="0B2545"/>
                </a:solidFill>
                <a:latin typeface="Arial" panose="020B0604020202020204"/>
              </a:rPr>
              <a:t>Tiền xử lý
&amp; scale</a:t>
            </a:r>
            <a:endParaRPr sz="1040" b="1">
              <a:solidFill>
                <a:srgbClr val="0B2545"/>
              </a:solidFill>
              <a:latin typeface="Arial" panose="020B0604020202020204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6583680" y="2350008"/>
            <a:ext cx="320040" cy="0"/>
          </a:xfrm>
          <a:prstGeom prst="line">
            <a:avLst/>
          </a:prstGeom>
          <a:ln w="20320">
            <a:solidFill>
              <a:srgbClr val="2AA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949440" y="1965960"/>
            <a:ext cx="1600200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AA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40" b="1">
                <a:solidFill>
                  <a:srgbClr val="0B2545"/>
                </a:solidFill>
                <a:latin typeface="Arial" panose="020B0604020202020204"/>
              </a:rPr>
              <a:t>Nạp mô hình
đã huấn luyện</a:t>
            </a:r>
            <a:endParaRPr sz="1040" b="1">
              <a:solidFill>
                <a:srgbClr val="0B2545"/>
              </a:solidFill>
              <a:latin typeface="Arial" panose="020B0604020202020204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8595360" y="2350008"/>
            <a:ext cx="320040" cy="0"/>
          </a:xfrm>
          <a:prstGeom prst="line">
            <a:avLst/>
          </a:prstGeom>
          <a:ln w="20320">
            <a:solidFill>
              <a:srgbClr val="2AA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961120" y="1965960"/>
            <a:ext cx="1600200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40" b="1">
                <a:solidFill>
                  <a:srgbClr val="0B2545"/>
                </a:solidFill>
                <a:latin typeface="Arial" panose="020B0604020202020204"/>
              </a:rPr>
              <a:t>Trả kết quả
phân loại</a:t>
            </a:r>
            <a:endParaRPr sz="104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122045" y="2927985"/>
            <a:ext cx="4501515" cy="2996565"/>
          </a:xfrm>
          <a:prstGeom prst="roundRect">
            <a:avLst/>
          </a:prstGeom>
          <a:solidFill>
            <a:srgbClr val="FFFFFF"/>
          </a:solidFill>
          <a:ln>
            <a:solidFill>
              <a:srgbClr val="DC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2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0190" y="3064510"/>
            <a:ext cx="3872865" cy="277749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400800" y="3657600"/>
            <a:ext cx="44348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794760"/>
            <a:ext cx="4160520" cy="124720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554480" y="5358384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6B7280"/>
                </a:solidFill>
                <a:latin typeface="Arial" panose="020B0604020202020204"/>
              </a:rPr>
              <a:t>Dữ liệu đầu vào gửi lên API</a:t>
            </a:r>
            <a:endParaRPr sz="1050" b="0">
              <a:solidFill>
                <a:srgbClr val="6B7280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766560" y="5358384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6B7280"/>
                </a:solidFill>
                <a:latin typeface="Arial" panose="020B0604020202020204"/>
              </a:rPr>
              <a:t>Kết quả trả về từ mô hình</a:t>
            </a:r>
            <a:endParaRPr sz="1050" b="0">
              <a:solidFill>
                <a:srgbClr val="6B7280"/>
              </a:solidFill>
              <a:latin typeface="Arial" panose="020B060402020202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85800" y="6510528"/>
            <a:ext cx="10835640" cy="9144"/>
          </a:xfrm>
          <a:prstGeom prst="rect">
            <a:avLst/>
          </a:prstGeom>
          <a:solidFill>
            <a:srgbClr val="D2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655624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60">
                <a:solidFill>
                  <a:srgbClr val="6B7280"/>
                </a:solidFill>
                <a:latin typeface="Arial" panose="020B0604020202020204"/>
              </a:rPr>
              <a:t>Đồ án tốt nghiệp CNTT | Hệ thống hỗ trợ phát hiện sớm suy thai</a:t>
            </a:r>
            <a:endParaRPr sz="760">
              <a:solidFill>
                <a:srgbClr val="6B7280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064240" y="655624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AA7A3"/>
                </a:solidFill>
                <a:latin typeface="Arial" panose="020B0604020202020204"/>
              </a:rPr>
              <a:t>15</a:t>
            </a:r>
            <a:endParaRPr sz="800" b="1">
              <a:solidFill>
                <a:srgbClr val="2AA7A3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05840"/>
            <a:ext cx="3474720" cy="3474720"/>
          </a:xfrm>
          <a:prstGeom prst="ellipse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05840" y="5394960"/>
            <a:ext cx="2926080" cy="2926080"/>
          </a:xfrm>
          <a:prstGeom prst="ellipse">
            <a:avLst/>
          </a:prstGeom>
          <a:solidFill>
            <a:srgbClr val="197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 panose="020B0604020202020204"/>
              </a:rPr>
              <a:t>Kết luận và hướng phát triển</a:t>
            </a:r>
            <a:endParaRPr sz="3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4672" y="1243584"/>
            <a:ext cx="9326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CFEBEE"/>
                </a:solidFill>
                <a:latin typeface="Arial" panose="020B0604020202020204"/>
              </a:rPr>
              <a:t>Đề tài đã xây dựng được quy trình hỗ trợ phát hiện sớm tình trạng suy thai dựa trên dữ liệu CTG và các mô hình học máy.</a:t>
            </a:r>
            <a:endParaRPr sz="1300" b="0">
              <a:solidFill>
                <a:srgbClr val="CFEBEE"/>
              </a:solidFill>
              <a:latin typeface="Arial" panose="020B06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2057400"/>
            <a:ext cx="5166360" cy="2971800"/>
          </a:xfrm>
          <a:prstGeom prst="roundRect">
            <a:avLst/>
          </a:prstGeom>
          <a:solidFill>
            <a:srgbClr val="143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13432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 panose="020B0604020202020204"/>
              </a:rPr>
              <a:t>Kết quả đạt được</a:t>
            </a:r>
            <a:endParaRPr sz="18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78992" y="2788920"/>
            <a:ext cx="4617720" cy="17830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220" b="1">
                <a:solidFill>
                  <a:srgbClr val="2AA7A3"/>
                </a:solidFill>
                <a:latin typeface="Arial" panose="020B0604020202020204"/>
              </a:rPr>
              <a:t>• </a:t>
            </a:r>
            <a:r>
              <a:rPr sz="1120">
                <a:solidFill>
                  <a:srgbClr val="E6F5F7"/>
                </a:solidFill>
                <a:latin typeface="Arial" panose="020B0604020202020204"/>
              </a:rPr>
              <a:t>Hoàn thiện quy trình xử lý dữ liệu: duplicate, Z-score, SMOTE, FCM/MFCM.</a:t>
            </a:r>
            <a:endParaRPr sz="1120">
              <a:solidFill>
                <a:srgbClr val="E6F5F7"/>
              </a:solidFill>
              <a:latin typeface="Arial" panose="020B0604020202020204"/>
            </a:endParaRP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220" b="1">
                <a:solidFill>
                  <a:srgbClr val="2AA7A3"/>
                </a:solidFill>
                <a:latin typeface="Arial" panose="020B0604020202020204"/>
              </a:rPr>
              <a:t>• </a:t>
            </a:r>
            <a:r>
              <a:rPr sz="1120">
                <a:solidFill>
                  <a:srgbClr val="E6F5F7"/>
                </a:solidFill>
                <a:latin typeface="Arial" panose="020B0604020202020204"/>
              </a:rPr>
              <a:t>So sánh Random Forest và XGBoost trên nhiều kịch bản dữ liệu.</a:t>
            </a:r>
            <a:endParaRPr sz="1120">
              <a:solidFill>
                <a:srgbClr val="E6F5F7"/>
              </a:solidFill>
              <a:latin typeface="Arial" panose="020B0604020202020204"/>
            </a:endParaRP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220" b="1">
                <a:solidFill>
                  <a:srgbClr val="2AA7A3"/>
                </a:solidFill>
                <a:latin typeface="Arial" panose="020B0604020202020204"/>
              </a:rPr>
              <a:t>• </a:t>
            </a:r>
            <a:r>
              <a:rPr sz="1120">
                <a:solidFill>
                  <a:srgbClr val="E6F5F7"/>
                </a:solidFill>
                <a:latin typeface="Arial" panose="020B0604020202020204"/>
              </a:rPr>
              <a:t>XGBoost đạt Accuracy cao nhất 98,8% trong phạm vi thực nghiệm.</a:t>
            </a:r>
            <a:endParaRPr sz="1120">
              <a:solidFill>
                <a:srgbClr val="E6F5F7"/>
              </a:solidFill>
              <a:latin typeface="Arial" panose="020B0604020202020204"/>
            </a:endParaRP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220" b="1">
                <a:solidFill>
                  <a:srgbClr val="2AA7A3"/>
                </a:solidFill>
                <a:latin typeface="Arial" panose="020B0604020202020204"/>
              </a:rPr>
              <a:t>• </a:t>
            </a:r>
            <a:r>
              <a:rPr sz="1120">
                <a:solidFill>
                  <a:srgbClr val="E6F5F7"/>
                </a:solidFill>
                <a:latin typeface="Arial" panose="020B0604020202020204"/>
              </a:rPr>
              <a:t>Xây dựng luồng dự đoán dữ liệu qua mô hình đã huấn luyện.</a:t>
            </a:r>
            <a:endParaRPr sz="1120">
              <a:solidFill>
                <a:srgbClr val="E6F5F7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309360" y="2057400"/>
            <a:ext cx="5074920" cy="2971800"/>
          </a:xfrm>
          <a:prstGeom prst="roundRect">
            <a:avLst/>
          </a:prstGeom>
          <a:solidFill>
            <a:srgbClr val="143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313432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 panose="020B0604020202020204"/>
              </a:rPr>
              <a:t>Hướng phát triển</a:t>
            </a:r>
            <a:endParaRPr sz="18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65392" y="2788920"/>
            <a:ext cx="4572000" cy="17830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220" b="1">
                <a:solidFill>
                  <a:srgbClr val="F4A261"/>
                </a:solidFill>
                <a:latin typeface="Arial" panose="020B0604020202020204"/>
              </a:rPr>
              <a:t>• </a:t>
            </a:r>
            <a:r>
              <a:rPr sz="1120">
                <a:solidFill>
                  <a:srgbClr val="E6F5F7"/>
                </a:solidFill>
                <a:latin typeface="Arial" panose="020B0604020202020204"/>
              </a:rPr>
              <a:t>Mở rộng dữ liệu thực tế và dữ liệu lâm sàng đa nguồn.</a:t>
            </a:r>
            <a:endParaRPr sz="1120">
              <a:solidFill>
                <a:srgbClr val="E6F5F7"/>
              </a:solidFill>
              <a:latin typeface="Arial" panose="020B0604020202020204"/>
            </a:endParaRP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220" b="1">
                <a:solidFill>
                  <a:srgbClr val="F4A261"/>
                </a:solidFill>
                <a:latin typeface="Arial" panose="020B0604020202020204"/>
              </a:rPr>
              <a:t>• </a:t>
            </a:r>
            <a:r>
              <a:rPr sz="1120">
                <a:solidFill>
                  <a:srgbClr val="E6F5F7"/>
                </a:solidFill>
                <a:latin typeface="Arial" panose="020B0604020202020204"/>
              </a:rPr>
              <a:t>Bổ sung giải thích mô hình như feature importance hoặc SHAP.</a:t>
            </a:r>
            <a:endParaRPr sz="1120">
              <a:solidFill>
                <a:srgbClr val="E6F5F7"/>
              </a:solidFill>
              <a:latin typeface="Arial" panose="020B0604020202020204"/>
            </a:endParaRP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220" b="1">
                <a:solidFill>
                  <a:srgbClr val="F4A261"/>
                </a:solidFill>
                <a:latin typeface="Arial" panose="020B0604020202020204"/>
              </a:rPr>
              <a:t>• </a:t>
            </a:r>
            <a:r>
              <a:rPr sz="1120">
                <a:solidFill>
                  <a:srgbClr val="E6F5F7"/>
                </a:solidFill>
                <a:latin typeface="Arial" panose="020B0604020202020204"/>
              </a:rPr>
              <a:t>Tối ưu tham số, thử nghiệm thêm mô hình học sâu/học máy nâng cao.</a:t>
            </a:r>
            <a:endParaRPr sz="1120">
              <a:solidFill>
                <a:srgbClr val="E6F5F7"/>
              </a:solidFill>
              <a:latin typeface="Arial" panose="020B0604020202020204"/>
            </a:endParaRP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220" b="1">
                <a:solidFill>
                  <a:srgbClr val="F4A261"/>
                </a:solidFill>
                <a:latin typeface="Arial" panose="020B0604020202020204"/>
              </a:rPr>
              <a:t>• </a:t>
            </a:r>
            <a:r>
              <a:rPr sz="1120">
                <a:solidFill>
                  <a:srgbClr val="E6F5F7"/>
                </a:solidFill>
                <a:latin typeface="Arial" panose="020B0604020202020204"/>
              </a:rPr>
              <a:t>Phát triển giao diện sử dụng và kiểm thử trong môi trường thực tế.</a:t>
            </a:r>
            <a:endParaRPr sz="1120">
              <a:solidFill>
                <a:srgbClr val="E6F5F7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05840"/>
            <a:ext cx="3474720" cy="3474720"/>
          </a:xfrm>
          <a:prstGeom prst="ellipse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05840" y="5394960"/>
            <a:ext cx="2926080" cy="2926080"/>
          </a:xfrm>
          <a:prstGeom prst="ellipse">
            <a:avLst/>
          </a:prstGeom>
          <a:solidFill>
            <a:srgbClr val="197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54910" y="1967865"/>
            <a:ext cx="7589520" cy="553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 panose="020B0604020202020204"/>
              </a:rPr>
              <a:t>Xin cảm ơn thầy cô đã lắng nghe!</a:t>
            </a:r>
            <a:endParaRPr sz="3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1600200" y="2936875"/>
            <a:ext cx="92983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>
                <a:solidFill>
                  <a:schemeClr val="bg1"/>
                </a:solidFill>
              </a:rPr>
              <a:t>Kính mong nhận được sự góp ý từ thầy cô và hội đồng bảo vệ</a:t>
            </a:r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8386</Words>
  <Application>WPS Presentation</Application>
  <PresentationFormat>On-screen Show (4:3)</PresentationFormat>
  <Paragraphs>443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Arial</vt:lpstr>
      <vt:lpstr>SimSun</vt:lpstr>
      <vt:lpstr>Wingdings</vt:lpstr>
      <vt:lpstr>Arial</vt:lpstr>
      <vt:lpstr>Cambria Math</vt:lpstr>
      <vt:lpstr>Wingdings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music office</cp:lastModifiedBy>
  <cp:revision>44</cp:revision>
  <dcterms:created xsi:type="dcterms:W3CDTF">2013-01-27T09:14:00Z</dcterms:created>
  <dcterms:modified xsi:type="dcterms:W3CDTF">2026-05-19T01:14:36Z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9E398CB1055545DCB656585887F7A1FD_12</vt:lpwstr>
  </property>
</Properties>
</file>