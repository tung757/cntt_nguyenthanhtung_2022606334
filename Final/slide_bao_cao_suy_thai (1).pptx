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2" r:id="rId8"/>
    <p:sldId id="261" r:id="rId9"/>
    <p:sldId id="264" r:id="rId10"/>
    <p:sldId id="265" r:id="rId11"/>
    <p:sldId id="266" r:id="rId12"/>
    <p:sldId id="273" r:id="rId13"/>
    <p:sldId id="267" r:id="rId14"/>
    <p:sldId id="274" r:id="rId15"/>
    <p:sldId id="275" r:id="rId16"/>
    <p:sldId id="268" r:id="rId17"/>
    <p:sldId id="269" r:id="rId18"/>
    <p:sldId id="270" r:id="rId19"/>
    <p:sldId id="271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75488"/>
            <a:ext cx="736125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4208" y="530352"/>
            <a:ext cx="621792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ĐẠI HỌC CÔNG NGHIỆP HÀ NỘI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  <a:p>
            <a:pPr algn="l"/>
            <a:r>
              <a:rPr lang="en-US" sz="1100" b="1">
                <a:solidFill>
                  <a:srgbClr val="FFFFFF"/>
                </a:solidFill>
                <a:latin typeface="Arial" panose="020B0604020202020204"/>
              </a:rPr>
              <a:t>TRƯỜNG CÔNG NGHỆ THÔNG TIN VÀ TRUYỀN THÔNG</a:t>
            </a:r>
            <a:endParaRPr lang="en-US"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4208" y="945261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BCE1E7"/>
                </a:solidFill>
                <a:latin typeface="Arial" panose="020B0604020202020204"/>
              </a:rPr>
              <a:t>ĐỒ ÁN TỐT NGHIỆP ĐẠI HỌC</a:t>
            </a:r>
            <a:endParaRPr sz="900" b="0">
              <a:solidFill>
                <a:srgbClr val="BCE1E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8961120" cy="143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 panose="020B0604020202020204"/>
              </a:rPr>
              <a:t>NGHIÊN CỨU XÂY DỰNG HỆ THỐNG
HỖ TRỢ PHÁT HIỆN SỚM
TÌNH TRẠNG SUY THAI</a:t>
            </a:r>
            <a:r>
              <a:rPr lang="en-US" sz="3100" b="1">
                <a:solidFill>
                  <a:srgbClr val="FFFFFF"/>
                </a:solidFill>
                <a:latin typeface="Arial" panose="020B0604020202020204"/>
              </a:rPr>
              <a:t> </a:t>
            </a:r>
            <a:endParaRPr lang="en-US" sz="3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12463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6E8EB"/>
                </a:solidFill>
                <a:latin typeface="Arial" panose="020B0604020202020204"/>
              </a:rPr>
              <a:t>Ứng dụng học máy trong phân loại sức khỏe thai nhi từ dữ liệu CTG</a:t>
            </a:r>
            <a:endParaRPr sz="1300" b="0">
              <a:solidFill>
                <a:srgbClr val="C6E8E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4681728"/>
            <a:ext cx="4937760" cy="100584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255" y="4782185"/>
            <a:ext cx="45389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 panose="020B0604020202020204"/>
              </a:rPr>
              <a:t>GVHD: ThS. Nguyễn Lan Anh
Sinh viên: Nguyễn Thanh Tùng
Mã sinh viên: 2022606334</a:t>
            </a:r>
            <a:endParaRPr sz="115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55480" y="619963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D2EBEE"/>
                </a:solidFill>
                <a:latin typeface="Arial" panose="020B0604020202020204"/>
              </a:rPr>
              <a:t>Hà Nội – 2026</a:t>
            </a:r>
            <a:endParaRPr sz="950" b="0">
              <a:solidFill>
                <a:srgbClr val="D2EBEE"/>
              </a:solidFill>
              <a:latin typeface="Arial" panose="020B0604020202020204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MỤC LỤC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Nội dung trình bày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737235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Cấu trúc bài báo cáo được rút gọn theo logic: vấn đề → phương pháp → kết quả → kết luận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676650" cy="1377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152777"/>
            <a:ext cx="82296" cy="78638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75104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01. Tổng quan đề tài</a:t>
            </a:r>
            <a:endParaRPr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2263775"/>
            <a:ext cx="3083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Lý do chọn đề tài, mục tiêu và phạm vi nghiên cứu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577840" y="1828800"/>
            <a:ext cx="3752215" cy="1381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24144" y="2152777"/>
            <a:ext cx="82296" cy="786384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975104"/>
            <a:ext cx="274320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02.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B</a:t>
            </a:r>
            <a:r>
              <a:rPr sz="1400" b="1">
                <a:solidFill>
                  <a:srgbClr val="0B2545"/>
                </a:solidFill>
                <a:latin typeface="Arial" panose="020B0604020202020204"/>
              </a:rPr>
              <a:t>ài toán</a:t>
            </a:r>
            <a:endParaRPr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97880" y="2269490"/>
            <a:ext cx="3241675" cy="681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400" b="0">
                <a:solidFill>
                  <a:schemeClr val="tx1"/>
                </a:solidFill>
                <a:latin typeface="Arial" panose="020B0604020202020204"/>
              </a:rPr>
              <a:t>Input: Dữ liệu về thai nhi dạng bảng</a:t>
            </a:r>
            <a:endParaRPr lang="en-US" sz="1400" b="0">
              <a:solidFill>
                <a:schemeClr val="tx1"/>
              </a:solidFill>
              <a:latin typeface="Arial" panose="020B0604020202020204"/>
            </a:endParaRPr>
          </a:p>
          <a:p>
            <a:pPr algn="l"/>
            <a:r>
              <a:rPr lang="en-US" sz="1400" b="0">
                <a:solidFill>
                  <a:schemeClr val="tx1"/>
                </a:solidFill>
                <a:latin typeface="Arial" panose="020B0604020202020204"/>
              </a:rPr>
              <a:t>Output: Đầu ra gồm ba lớp bình thường, nghi ngờ và bệnh lý.</a:t>
            </a:r>
            <a:endParaRPr lang="en-US"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1690" y="3631565"/>
            <a:ext cx="3678555" cy="1393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645" y="3995420"/>
            <a:ext cx="81915" cy="869950"/>
          </a:xfrm>
          <a:prstGeom prst="roundRect">
            <a:avLst>
              <a:gd name="adj" fmla="val 17006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1730" y="3777615"/>
            <a:ext cx="3108325" cy="3022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03.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lang="en-US"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1730" y="4072255"/>
            <a:ext cx="3108325" cy="485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Tiền xử lý, SMOTE, FCM/MFCM và huấn luyện mô hình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77840" y="3634740"/>
            <a:ext cx="3780790" cy="13671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4144" y="3998087"/>
            <a:ext cx="82296" cy="78638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781044"/>
            <a:ext cx="274320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 panose="020B0604020202020204"/>
              </a:rPr>
              <a:t>04. </a:t>
            </a:r>
            <a:r>
              <a:rPr lang="en-US" sz="1400" b="1">
                <a:solidFill>
                  <a:srgbClr val="0B2545"/>
                </a:solidFill>
                <a:latin typeface="Arial" panose="020B0604020202020204"/>
              </a:rPr>
              <a:t>Kết luận</a:t>
            </a:r>
            <a:endParaRPr lang="en-US" sz="14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97880" y="4094225"/>
            <a:ext cx="274320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>
                <a:solidFill>
                  <a:schemeClr val="tx1"/>
                </a:solidFill>
                <a:latin typeface="Arial" panose="020B0604020202020204"/>
                <a:sym typeface="+mn-ea"/>
              </a:rPr>
              <a:t>Kết quả đạt được, hạn chế và hướng phát triển</a:t>
            </a:r>
            <a:endParaRPr sz="1400" b="0">
              <a:solidFill>
                <a:schemeClr val="tx1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6880" y="5812790"/>
            <a:ext cx="987552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0B2545"/>
                </a:solidFill>
                <a:latin typeface="Arial" panose="020B0604020202020204"/>
              </a:rPr>
              <a:t>Trọng tâm thuyết trình: </a:t>
            </a:r>
            <a:r>
              <a:rPr lang="en-US" sz="1320" b="1">
                <a:solidFill>
                  <a:srgbClr val="0B2545"/>
                </a:solidFill>
                <a:latin typeface="Arial" panose="020B0604020202020204"/>
              </a:rPr>
              <a:t>Q</a:t>
            </a:r>
            <a:r>
              <a:rPr sz="1320" b="1">
                <a:solidFill>
                  <a:srgbClr val="0B2545"/>
                </a:solidFill>
                <a:latin typeface="Arial" panose="020B0604020202020204"/>
              </a:rPr>
              <a:t>uy trình xử lý dữ liệu và kết quả so sánh mô hình.</a:t>
            </a:r>
            <a:endParaRPr sz="132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TỔNG QUAN ĐỀ TÀI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7014210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Lý do chọn đề tài</a:t>
            </a:r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 và mục tiêu nghiên cứu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90689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Bài toán xuất phát từ nhu cầu phát hiện sớm nguy cơ suy thai trong chăm sóc thai sản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993392"/>
            <a:ext cx="82296" cy="200253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Suy thai là biến chứng nguy hiểm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Có thể gây thiếu oxy, ngạt sau sinh, ảnh hưởng đến sự an toàn của thai nhi và sản phụ nếu không được phát hiện kịp thời.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7598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22284" y="1993392"/>
            <a:ext cx="82296" cy="2002536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019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Đánh giá còn phụ thuộc chuyên môn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6019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Theo dõi tim thai, siêu âm, monitoring sản khoa vẫn cần kinh nghiệm bác sĩ; kết quả có thể bị ảnh hưởng bởi điều kiện cơ sở vật chất.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26610" y="18288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72914" y="1993392"/>
            <a:ext cx="82296" cy="200253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650" y="197510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Cơ hội ứng dụng học máy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6650" y="2468626"/>
            <a:ext cx="2926080" cy="897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Phân tích dữ liệu CTG giúp hỗ trợ nhận diện dấu hiệu bất thường nhanh hơn, khách quan hơn và giảm áp lực cho nhân viên y tế.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05840" y="4846320"/>
            <a:ext cx="10149840" cy="761365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03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257935" y="4841240"/>
            <a:ext cx="9897745" cy="757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b="1">
                <a:latin typeface="Arial" panose="020B0604020202020204"/>
                <a:sym typeface="+mn-ea"/>
              </a:rPr>
              <a:t>Tiếp nhận, xử lý và phân tích dữ liệu thai nhi để đưa ra kết quả hỗ trợ cảnh báo nguy cơ suy thai</a:t>
            </a:r>
            <a:endParaRPr b="1">
              <a:solidFill>
                <a:schemeClr val="tx1"/>
              </a:solidFill>
              <a:latin typeface="Arial" panose="020B0604020202020204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BÀI TOÁN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Bài toán nghiên cứu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30796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Phân loại tình trạng thai nhi thành 3 mức dựa trên dữ liệu theo dõi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09445" y="1764665"/>
            <a:ext cx="2011680" cy="384048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INPUT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44105" y="1764665"/>
            <a:ext cx="1920240" cy="38404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OUTPUT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05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9725" y="2257425"/>
            <a:ext cx="5151120" cy="268414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27"/>
              <p:cNvSpPr txBox="1"/>
              <p:nvPr/>
            </p:nvSpPr>
            <p:spPr>
              <a:xfrm>
                <a:off x="494030" y="2371090"/>
                <a:ext cx="4864735" cy="2912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en-US"/>
                  <a:t>Cho tập dữ liệu D={(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),</a:t>
                </a:r>
                <a:r>
                  <a:rPr lang="en-US">
                    <a:sym typeface="+mn-ea"/>
                  </a:rPr>
                  <a:t>(</a:t>
                </a: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r>
                  <a:rPr lang="en-US">
                    <a:sym typeface="+mn-ea"/>
                  </a:rPr>
                  <a:t>), ... (</a:t>
                </a: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r>
                  <a:rPr lang="en-US">
                    <a:sym typeface="+mn-ea"/>
                  </a:rPr>
                  <a:t>)</a:t>
                </a:r>
                <a:r>
                  <a:rPr lang="en-US"/>
                  <a:t>}</a:t>
                </a:r>
                <a:endParaRPr lang="en-US"/>
              </a:p>
              <a:p>
                <a:pPr algn="l"/>
                <a:r>
                  <a:rPr lang="en-US"/>
                  <a:t>Trong đó:</a:t>
                </a:r>
                <a:endParaRPr lang="en-US"/>
              </a:p>
              <a:p>
                <a:pPr algn="l"/>
                <a:r>
                  <a:rPr lang="en-US"/>
                  <a:t>n: Số lượng mẫu dữ liệu</a:t>
                </a:r>
                <a:endParaRPr lang="en-US"/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∈ </m:t>
                    </m:r>
                    <m:sSup>
                      <m:s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/>
                  <a:t>: Vector đặc trưng của mẫu dữ liệu thứ 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 (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..., 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m: số thuộc tính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∈ {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..., 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𝐾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 là nhãn lớp tương ứng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>
                    <a:latin typeface="Cambria Math" panose="02040503050406030204" charset="0"/>
                    <a:cs typeface="Cambria Math" panose="02040503050406030204" charset="0"/>
                  </a:rPr>
                  <a:t>K: số lớp cần phân loại</a:t>
                </a:r>
                <a:endParaRPr 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i="1">
                    <a:latin typeface="Cambria Math" panose="02040503050406030204" charset="0"/>
                    <a:cs typeface="Cambria Math" panose="02040503050406030204" charset="0"/>
                  </a:rPr>
                  <a:t>  </a:t>
                </a:r>
                <a:endParaRPr lang="en-US"/>
              </a:p>
              <a:p>
                <a:pPr algn="l"/>
                <a:endParaRPr lang="en-US"/>
              </a:p>
            </p:txBody>
          </p:sp>
        </mc:Choice>
        <mc:Fallback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0" y="2371090"/>
                <a:ext cx="4864735" cy="29121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5867400" y="2257425"/>
            <a:ext cx="5151120" cy="268414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29"/>
              <p:cNvSpPr txBox="1"/>
              <p:nvPr/>
            </p:nvSpPr>
            <p:spPr>
              <a:xfrm>
                <a:off x="6010910" y="2498090"/>
                <a:ext cx="4864735" cy="1201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/>
                  <a:t>Học một hàm phân lớp:</a:t>
                </a:r>
                <a:endParaRPr lang="en-US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sup>
                      </m:sSup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&gt; {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,...,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}</m:t>
                      </m:r>
                    </m:oMath>
                  </m:oMathPara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/>
                  <a:t>Sao cho với mỗi mẫu mới x, ta dự đoán được nhãn: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0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910" y="2498090"/>
                <a:ext cx="4864735" cy="12014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1270"/>
            <a:ext cx="10800715" cy="495236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Quy trình xử lý và huấn luyện đề xuất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08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>
                <a:solidFill>
                  <a:srgbClr val="0B2545"/>
                </a:solidFill>
                <a:latin typeface="Arial" panose="020B0604020202020204"/>
              </a:rPr>
              <a:t>QUY TRÌNH</a:t>
            </a:r>
            <a:endParaRPr lang="en-US" sz="850" b="1">
              <a:solidFill>
                <a:srgbClr val="0B254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DỮ LIỆU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Bộ dữ liệu fetal_health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14616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Dữ liệu được sử dụng để phân loại sức khỏe thai nhi dựa trên thông tin CTG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2AA7A3"/>
                </a:solidFill>
                <a:latin typeface="Arial" panose="020B0604020202020204"/>
              </a:rPr>
              <a:t>2.126</a:t>
            </a:r>
            <a:endParaRPr sz="25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mẫu dữ liệu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4612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1976A2"/>
                </a:solidFill>
                <a:latin typeface="Arial" panose="020B0604020202020204"/>
              </a:rPr>
              <a:t>22</a:t>
            </a:r>
            <a:endParaRPr sz="2500" b="1">
              <a:solidFill>
                <a:srgbClr val="1976A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56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thuộc tính dạng số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0" y="1783080"/>
            <a:ext cx="21488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98424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F4A261"/>
                </a:solidFill>
                <a:latin typeface="Arial" panose="020B0604020202020204"/>
              </a:rPr>
              <a:t>3</a:t>
            </a:r>
            <a:endParaRPr sz="2500" b="1">
              <a:solidFill>
                <a:srgbClr val="F4A261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0" y="2496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lớp phân loại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310128"/>
            <a:ext cx="6126480" cy="155321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Dữ liệu thuộc lĩnh vực Healthcare Data Science.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Các đặc trưng phản ánh nhịp tim thai, biến thiên nhịp tim, cơn co tử cung và histogram.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600">
                <a:solidFill>
                  <a:srgbClr val="1F2937"/>
                </a:solidFill>
                <a:latin typeface="Arial" panose="020B0604020202020204"/>
              </a:rPr>
              <a:t>Biến mục tiêu: fetal_health với 3 mức bình thường, nghi ngờ và bệnh lý.</a:t>
            </a:r>
            <a:endParaRPr sz="160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14310" y="2710180"/>
            <a:ext cx="4201160" cy="3461385"/>
          </a:xfrm>
          <a:prstGeom prst="roundRect">
            <a:avLst/>
          </a:prstGeom>
          <a:solidFill>
            <a:srgbClr val="FFFFFF"/>
          </a:solidFill>
          <a:ln>
            <a:solidFill>
              <a:srgbClr val="DC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295" y="3117215"/>
            <a:ext cx="3945890" cy="27444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24545" y="6245479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>
                <a:solidFill>
                  <a:srgbClr val="6B7280"/>
                </a:solidFill>
                <a:latin typeface="Arial" panose="020B0604020202020204"/>
              </a:rPr>
              <a:t>Ảnh minh họa cấu trúc dữ liệu trong báo cáo</a:t>
            </a:r>
            <a:endParaRPr sz="88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06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Tiền xử lý dữ liệu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03758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Mục tiêu là loại bỏ nhiễu, giảm sai lệch và đưa dữ liệu về thang đo phù hợp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1901952"/>
            <a:ext cx="82296" cy="1865376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57016" y="1920240"/>
            <a:ext cx="292608" cy="292608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1883664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1. Xử lý Duplicate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2322576"/>
            <a:ext cx="2743200" cy="774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Loại bỏ các bản ghi trùng lặp nhằm tránh mô hình học lặp lại cùng một mẫu dữ liệu.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26864" y="1901952"/>
            <a:ext cx="82296" cy="1865376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14615" y="192024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1883664"/>
            <a:ext cx="2743200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2. </a:t>
            </a:r>
            <a:r>
              <a:rPr lang="en-US" sz="1500" b="1">
                <a:solidFill>
                  <a:srgbClr val="0B2545"/>
                </a:solidFill>
                <a:latin typeface="Arial" panose="020B0604020202020204"/>
              </a:rPr>
              <a:t>Xử lý giá trị thiếu</a:t>
            </a:r>
            <a:endParaRPr lang="en-US"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0" y="17373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84464" y="1901952"/>
            <a:ext cx="82296" cy="186537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72215" y="1920240"/>
            <a:ext cx="292608" cy="292608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1883664"/>
            <a:ext cx="2743200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3. </a:t>
            </a:r>
            <a:r>
              <a:rPr sz="1500" b="1">
                <a:solidFill>
                  <a:srgbClr val="0B2545"/>
                </a:solidFill>
                <a:latin typeface="Arial" panose="020B0604020202020204"/>
                <a:sym typeface="+mn-ea"/>
              </a:rPr>
              <a:t>Xử lý Outlier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58200" y="2322576"/>
            <a:ext cx="2743200" cy="10204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en-US" sz="1600" b="0">
                <a:solidFill>
                  <a:schemeClr val="tx1"/>
                </a:solidFill>
                <a:latin typeface="Arial" panose="020B0604020202020204"/>
              </a:rPr>
              <a:t>Sử dụng Z-score với ngưỡng 3.5; loại bỏ khoảng 193 điểm dữ liệu lệch xa phân bố chung.</a:t>
            </a:r>
            <a:endParaRPr lang="en-US" altLang="en-US"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94560" y="4892040"/>
            <a:ext cx="7772400" cy="594360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047488"/>
            <a:ext cx="7406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  <a:latin typeface="Arial" panose="020B0604020202020204"/>
              </a:rPr>
              <a:t>Z-score = (X − μ) / σ    |    Ngưỡng chọn trong thực nghiệm: threshold = 3.5</a:t>
            </a:r>
            <a:endParaRPr sz="16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09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34" name="TextBox 22"/>
          <p:cNvSpPr txBox="1"/>
          <p:nvPr/>
        </p:nvSpPr>
        <p:spPr>
          <a:xfrm>
            <a:off x="4805045" y="2322576"/>
            <a:ext cx="2743200" cy="5276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en-US" sz="1600" b="0">
                <a:solidFill>
                  <a:schemeClr val="tx1"/>
                </a:solidFill>
                <a:latin typeface="Arial" panose="020B0604020202020204"/>
              </a:rPr>
              <a:t>Tiến hành thay thế các giá trị bị thiếu bằng giá trị median.</a:t>
            </a:r>
            <a:endParaRPr lang="en-US" altLang="en-US" sz="1600" b="0">
              <a:solidFill>
                <a:schemeClr val="tx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Cân bằng dữ liệu bằng SMOTE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59765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SMOTE tạo mẫu tổng hợp cho lớp thiểu số để giảm hiện tượng thiên lệch mô hình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pic>
        <p:nvPicPr>
          <p:cNvPr id="9" name="Picture 8" descr="smote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675120" cy="3527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2361565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64424" y="2526157"/>
            <a:ext cx="82296" cy="722375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507869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Trước SMOTE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0" y="2818511"/>
            <a:ext cx="292608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 panose="020B0604020202020204"/>
              </a:rPr>
              <a:t>Lớp 2 và lớp 3 có số lượng mẫu thấp hơn rất nhiều so với lớp 1.</a:t>
            </a:r>
            <a:endParaRPr sz="14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18120" y="38912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64424" y="4055872"/>
            <a:ext cx="82296" cy="722375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37584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Sau SMOTE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0" y="4311396"/>
            <a:ext cx="292608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 panose="020B0604020202020204"/>
              </a:rPr>
              <a:t>Ba lớp được cân bằng về 1.554 mẫu/lớp.</a:t>
            </a:r>
            <a:endParaRPr sz="14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10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Bổ sung đặc trưng phân cụm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70052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FCM/MFCM giúp khai thác thông tin ẩn thông qua mức độ thuộc cụm của từng mẫu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4592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4983" y="1810512"/>
            <a:ext cx="82296" cy="149961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79222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 panose="020B0604020202020204"/>
              </a:rPr>
              <a:t>FCM – Fuzzy C-Means</a:t>
            </a:r>
            <a:endParaRPr sz="16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19" y="2231136"/>
            <a:ext cx="45720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 panose="020B0604020202020204"/>
              </a:rPr>
              <a:t>Phân cụm mờ cho dữ liệu số. Trong thực nghiệm chọn c = 2 và ghép 2 giá trị membership vào dữ liệu huấn luyện.</a:t>
            </a:r>
            <a:endParaRPr sz="12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810512"/>
            <a:ext cx="82296" cy="1499616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79222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 panose="020B0604020202020204"/>
              </a:rPr>
              <a:t>MFCM – Modified Fuzzy C-Means</a:t>
            </a:r>
            <a:endParaRPr sz="16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231136"/>
            <a:ext cx="45720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 panose="020B0604020202020204"/>
              </a:rPr>
              <a:t>Mở rộng FCM theo khoảng cách hỗn hợp và trọng số. Trong thực nghiệm chọn c = 4 và ghép 4 membership features.</a:t>
            </a:r>
            <a:endParaRPr sz="120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69080" y="3886200"/>
            <a:ext cx="4023360" cy="38404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Minh họa ma trận membership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0" y="4572000"/>
            <a:ext cx="1051560" cy="384048"/>
          </a:xfrm>
          <a:prstGeom prst="rect">
            <a:avLst/>
          </a:prstGeom>
          <a:solidFill>
            <a:srgbClr val="0B2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mẫu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9476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C1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4632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C2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79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C3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0" y="4572000"/>
            <a:ext cx="1051560" cy="384048"/>
          </a:xfrm>
          <a:prstGeom prst="rect">
            <a:avLst/>
          </a:prstGeom>
          <a:solidFill>
            <a:srgbClr val="2AA7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6451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 panose="020B0604020202020204"/>
              </a:rPr>
              <a:t>C4</a:t>
            </a:r>
            <a:endParaRPr sz="9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x1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94760" y="49560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0.72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4632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97879" y="4956048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79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0.10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949440" y="4956048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50292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x2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94760" y="5340096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6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0.18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4632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0.63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97879" y="5340096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0.11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949440" y="5340096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54132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0.08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74320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x3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794760" y="57241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0.09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4632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0.16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7879" y="5724144"/>
            <a:ext cx="1051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79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0.66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949440" y="5724144"/>
            <a:ext cx="1051560" cy="384048"/>
          </a:xfrm>
          <a:prstGeom prst="rect">
            <a:avLst/>
          </a:prstGeom>
          <a:solidFill>
            <a:srgbClr val="F6FBFC"/>
          </a:solidFill>
          <a:ln>
            <a:solidFill>
              <a:srgbClr val="E1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57972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rial" panose="020B0604020202020204"/>
              </a:rPr>
              <a:t>0.09</a:t>
            </a:r>
            <a:endParaRPr sz="900" b="0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20240" y="619887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rial" panose="020B0604020202020204"/>
              </a:rPr>
              <a:t>Mỗi mẫu được biểu diễn thêm bằng mức độ thuộc về từng cụm, giúp mô hình có thêm góc nhìn về cấu trúc dữ liệu.</a:t>
            </a:r>
            <a:endParaRPr sz="11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11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PHƯƠNG PHÁP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Bổ sung đặc trưng phân cụm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70052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FCM/MFCM giúp khai thác thông tin ẩn thông qua mức độ thuộc cụm của từng mẫu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11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pic>
        <p:nvPicPr>
          <p:cNvPr id="62" name="image2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826385" y="1463040"/>
            <a:ext cx="61880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Mô hình dự đoán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696976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Hai thuật toán được sử dụng để so sánh hiệu quả phân loại trên bộ dữ liệu fetal_health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4983" y="1901952"/>
            <a:ext cx="82296" cy="2916936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8366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Arial" panose="020B0604020202020204"/>
              </a:rPr>
              <a:t>Random Forest</a:t>
            </a:r>
            <a:endParaRPr sz="20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19" y="2322576"/>
            <a:ext cx="4572000" cy="12661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• Tập hợp nhiều cây quyết định
• Hoạt động theo cơ chế bagging
• Giảm phương sai và tăng độ ổn định
• Phù hợp với dữ liệu bảng và ít yêu cầu tinh chỉnh tham số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901952"/>
            <a:ext cx="82296" cy="291693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83664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Arial" panose="020B0604020202020204"/>
              </a:rPr>
              <a:t>XGBoost</a:t>
            </a:r>
            <a:endParaRPr sz="20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322576"/>
            <a:ext cx="4572000" cy="12661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rial" panose="020B0604020202020204"/>
              </a:rPr>
              <a:t>• Thuật toán boosting mạnh cho dữ liệu bảng
• Cây sau sửa lỗi cho cây trước
• Có regularization để kiểm soát độ phức tạp
• Thường đạt hiệu quả cao nhưng nhạy với tham số</a:t>
            </a:r>
            <a:endParaRPr sz="16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65960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2AA7A3"/>
                </a:solidFill>
                <a:latin typeface="Arial" panose="020B0604020202020204"/>
              </a:rPr>
              <a:t>Accuracy</a:t>
            </a:r>
            <a:endParaRPr sz="102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50791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1976A2"/>
                </a:solidFill>
                <a:latin typeface="Arial" panose="020B0604020202020204"/>
              </a:rPr>
              <a:t>Precision</a:t>
            </a:r>
            <a:endParaRPr sz="1020" b="1">
              <a:solidFill>
                <a:srgbClr val="1976A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35623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F4A261"/>
                </a:solidFill>
                <a:latin typeface="Arial" panose="020B0604020202020204"/>
              </a:rPr>
              <a:t>Recall</a:t>
            </a:r>
            <a:endParaRPr sz="1020" b="1">
              <a:solidFill>
                <a:srgbClr val="F4A261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0456" y="5532120"/>
            <a:ext cx="1554480" cy="347472"/>
          </a:xfrm>
          <a:prstGeom prst="roundRect">
            <a:avLst/>
          </a:prstGeom>
          <a:solidFill>
            <a:srgbClr val="F6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20" b="1">
                <a:solidFill>
                  <a:srgbClr val="E76F51"/>
                </a:solidFill>
                <a:latin typeface="Arial" panose="020B0604020202020204"/>
              </a:rPr>
              <a:t>F1-score</a:t>
            </a:r>
            <a:endParaRPr sz="1020" b="1">
              <a:solidFill>
                <a:srgbClr val="E76F51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2606675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Random Forest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95985" y="1377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Cách thức hoạt động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95985" y="1929130"/>
            <a:ext cx="834199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Tạo nhiều cây quyết </a:t>
            </a:r>
            <a:r>
              <a:rPr lang="en-US" altLang="en-US"/>
              <a:t>đ</a:t>
            </a:r>
            <a:r>
              <a:rPr lang="en-US" altLang="en-US"/>
              <a:t>ịnh: Thuật toán tạo ra nhiều cây quyết </a:t>
            </a:r>
            <a:r>
              <a:rPr lang="en-US" altLang="en-US"/>
              <a:t>đ</a:t>
            </a:r>
            <a:r>
              <a:rPr lang="en-US" altLang="en-US"/>
              <a:t>ịnh, mỗi cây sử dụng một phần dữ liệu ngẫu nhiên.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Chọn các </a:t>
            </a:r>
            <a:r>
              <a:rPr lang="en-US" altLang="en-US"/>
              <a:t>đ</a:t>
            </a:r>
            <a:r>
              <a:rPr lang="en-US" altLang="en-US"/>
              <a:t>ặc </a:t>
            </a:r>
            <a:r>
              <a:rPr lang="en-US" altLang="en-US"/>
              <a:t>đ</a:t>
            </a:r>
            <a:r>
              <a:rPr lang="en-US" altLang="en-US"/>
              <a:t>iểm ngẫu nhiên: Nó chọn ngẫu nhiên một vài </a:t>
            </a:r>
            <a:r>
              <a:rPr lang="en-US" altLang="en-US"/>
              <a:t>đ</a:t>
            </a:r>
            <a:r>
              <a:rPr lang="en-US" altLang="en-US"/>
              <a:t>ặc </a:t>
            </a:r>
            <a:r>
              <a:rPr lang="en-US" altLang="en-US"/>
              <a:t>đ</a:t>
            </a:r>
            <a:r>
              <a:rPr lang="en-US" altLang="en-US"/>
              <a:t>iểm </a:t>
            </a:r>
            <a:r>
              <a:rPr lang="en-US" altLang="en-US"/>
              <a:t>đ</a:t>
            </a:r>
            <a:r>
              <a:rPr lang="en-US" altLang="en-US"/>
              <a:t>ể quyết </a:t>
            </a:r>
            <a:r>
              <a:rPr lang="en-US" altLang="en-US"/>
              <a:t>đ</a:t>
            </a:r>
            <a:r>
              <a:rPr lang="en-US" altLang="en-US"/>
              <a:t>ịnh cách phân chia dữ liệu. </a:t>
            </a:r>
            <a:r>
              <a:rPr lang="en-US" altLang="en-US"/>
              <a:t>Đ</a:t>
            </a:r>
            <a:r>
              <a:rPr lang="en-US" altLang="en-US"/>
              <a:t>iều này giúp các cây khác nhau hơn.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Mỗi cây </a:t>
            </a:r>
            <a:r>
              <a:rPr lang="en-US" altLang="en-US"/>
              <a:t>đư</a:t>
            </a:r>
            <a:r>
              <a:rPr lang="en-US" altLang="en-US"/>
              <a:t>a ra một dự </a:t>
            </a:r>
            <a:r>
              <a:rPr lang="en-US" altLang="en-US"/>
              <a:t>đ</a:t>
            </a:r>
            <a:r>
              <a:rPr lang="en-US" altLang="en-US"/>
              <a:t>oán: Mỗi cây </a:t>
            </a:r>
            <a:r>
              <a:rPr lang="en-US" altLang="en-US"/>
              <a:t>đư</a:t>
            </a:r>
            <a:r>
              <a:rPr lang="en-US" altLang="en-US"/>
              <a:t>a ra câu trả lời hoặc dự </a:t>
            </a:r>
            <a:r>
              <a:rPr lang="en-US" altLang="en-US"/>
              <a:t>đ</a:t>
            </a:r>
            <a:r>
              <a:rPr lang="en-US" altLang="en-US"/>
              <a:t>oán riêng dựa trên những gì nó học </a:t>
            </a:r>
            <a:r>
              <a:rPr lang="en-US" altLang="en-US"/>
              <a:t>đư</a:t>
            </a:r>
            <a:r>
              <a:rPr lang="en-US" altLang="en-US"/>
              <a:t>ợc từ phần dữ liệu của mình.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Kết hợp các dự </a:t>
            </a:r>
            <a:r>
              <a:rPr lang="en-US" altLang="en-US"/>
              <a:t>đ</a:t>
            </a:r>
            <a:r>
              <a:rPr lang="en-US" altLang="en-US"/>
              <a:t>oán: </a:t>
            </a:r>
            <a:r>
              <a:rPr lang="en-US" altLang="en-US"/>
              <a:t>Đ</a:t>
            </a:r>
            <a:r>
              <a:rPr lang="en-US" altLang="en-US"/>
              <a:t>ối với phân loại, câu trả lời cuối cùng là hạng mục mà </a:t>
            </a:r>
            <a:r>
              <a:rPr lang="en-US" altLang="en-US"/>
              <a:t>đ</a:t>
            </a:r>
            <a:r>
              <a:rPr lang="en-US" altLang="en-US"/>
              <a:t>a số cây quyết </a:t>
            </a:r>
            <a:r>
              <a:rPr lang="en-US" altLang="en-US"/>
              <a:t>đ</a:t>
            </a:r>
            <a:r>
              <a:rPr lang="en-US" altLang="en-US"/>
              <a:t>ịnh (bỏ phiếu theo </a:t>
            </a:r>
            <a:r>
              <a:rPr lang="en-US" altLang="en-US"/>
              <a:t>đ</a:t>
            </a:r>
            <a:r>
              <a:rPr lang="en-US" altLang="en-US"/>
              <a:t>a số).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MÔ HÌNH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520825" cy="52197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n-US" sz="2800" b="1">
                <a:solidFill>
                  <a:srgbClr val="0B2545"/>
                </a:solidFill>
                <a:latin typeface="Arial" panose="020B0604020202020204"/>
              </a:rPr>
              <a:t>XGBoost</a:t>
            </a:r>
            <a:endParaRPr lang="en-US"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12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95985" y="1377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Cách thức hoạt động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95985" y="1929130"/>
            <a:ext cx="834199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Bắt </a:t>
            </a:r>
            <a:r>
              <a:rPr lang="en-US" altLang="en-US"/>
              <a:t>đ</a:t>
            </a:r>
            <a:r>
              <a:rPr lang="en-US" altLang="en-US"/>
              <a:t>ầu với một mô hình cơ bản : Cây quyết </a:t>
            </a:r>
            <a:r>
              <a:rPr lang="en-US" altLang="en-US"/>
              <a:t>đ</a:t>
            </a:r>
            <a:r>
              <a:rPr lang="en-US" altLang="en-US"/>
              <a:t>ịnh của mô hình </a:t>
            </a:r>
            <a:r>
              <a:rPr lang="en-US" altLang="en-US"/>
              <a:t>đ</a:t>
            </a:r>
            <a:r>
              <a:rPr lang="en-US" altLang="en-US"/>
              <a:t>ầu tiên </a:t>
            </a:r>
            <a:r>
              <a:rPr lang="en-US" altLang="en-US"/>
              <a:t>đư</a:t>
            </a:r>
            <a:r>
              <a:rPr lang="en-US" altLang="en-US"/>
              <a:t>ợc huấn luyện trên dữ liệu.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Tính toán sai số : Sau khi huấn luyện cây quyết </a:t>
            </a:r>
            <a:r>
              <a:rPr lang="en-US" altLang="en-US"/>
              <a:t>đ</a:t>
            </a:r>
            <a:r>
              <a:rPr lang="en-US" altLang="en-US"/>
              <a:t>ịnh </a:t>
            </a:r>
            <a:r>
              <a:rPr lang="en-US" altLang="en-US"/>
              <a:t>đ</a:t>
            </a:r>
            <a:r>
              <a:rPr lang="en-US" altLang="en-US"/>
              <a:t>ầu tiên, sai số giữa giá trị dự </a:t>
            </a:r>
            <a:r>
              <a:rPr lang="en-US" altLang="en-US"/>
              <a:t>đ</a:t>
            </a:r>
            <a:r>
              <a:rPr lang="en-US" altLang="en-US"/>
              <a:t>oán và giá trị thực tế sẽ </a:t>
            </a:r>
            <a:r>
              <a:rPr lang="en-US" altLang="en-US"/>
              <a:t>đư</a:t>
            </a:r>
            <a:r>
              <a:rPr lang="en-US" altLang="en-US"/>
              <a:t>ợc tính toán.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Huấn luyện cây tiếp theo : Cây tiếp theo </a:t>
            </a:r>
            <a:r>
              <a:rPr lang="en-US" altLang="en-US"/>
              <a:t>đư</a:t>
            </a:r>
            <a:r>
              <a:rPr lang="en-US" altLang="en-US"/>
              <a:t>ợc huấn luyện dựa trên các lỗi của cây tr</a:t>
            </a:r>
            <a:r>
              <a:rPr lang="en-US" altLang="en-US"/>
              <a:t>ư</a:t>
            </a:r>
            <a:r>
              <a:rPr lang="en-US" altLang="en-US"/>
              <a:t>ớc </a:t>
            </a:r>
            <a:r>
              <a:rPr lang="en-US" altLang="en-US"/>
              <a:t>đ</a:t>
            </a:r>
            <a:r>
              <a:rPr lang="en-US" altLang="en-US"/>
              <a:t>ó. B</a:t>
            </a:r>
            <a:r>
              <a:rPr lang="en-US" altLang="en-US"/>
              <a:t>ư</a:t>
            </a:r>
            <a:r>
              <a:rPr lang="en-US" altLang="en-US"/>
              <a:t>ớc này nhằm mục </a:t>
            </a:r>
            <a:r>
              <a:rPr lang="en-US" altLang="en-US"/>
              <a:t>đ</a:t>
            </a:r>
            <a:r>
              <a:rPr lang="en-US" altLang="en-US"/>
              <a:t>ích sửa chữa các lỗi mà cây </a:t>
            </a:r>
            <a:r>
              <a:rPr lang="en-US" altLang="en-US"/>
              <a:t>đ</a:t>
            </a:r>
            <a:r>
              <a:rPr lang="en-US" altLang="en-US"/>
              <a:t>ầu tiên </a:t>
            </a:r>
            <a:r>
              <a:rPr lang="en-US" altLang="en-US"/>
              <a:t>đ</a:t>
            </a:r>
            <a:r>
              <a:rPr lang="en-US" altLang="en-US"/>
              <a:t>ã mắc phải.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Lặp lại quy trình : Quy trình này tiếp tục với mỗi cây mới, cố gắng sửa chữa các lỗi của các cây tr</a:t>
            </a:r>
            <a:r>
              <a:rPr lang="en-US" altLang="en-US"/>
              <a:t>ư</a:t>
            </a:r>
            <a:r>
              <a:rPr lang="en-US" altLang="en-US"/>
              <a:t>ớc </a:t>
            </a:r>
            <a:r>
              <a:rPr lang="en-US" altLang="en-US"/>
              <a:t>đ</a:t>
            </a:r>
            <a:r>
              <a:rPr lang="en-US" altLang="en-US"/>
              <a:t>ó cho </a:t>
            </a:r>
            <a:r>
              <a:rPr lang="en-US" altLang="en-US"/>
              <a:t>đ</a:t>
            </a:r>
            <a:r>
              <a:rPr lang="en-US" altLang="en-US"/>
              <a:t>ến khi </a:t>
            </a:r>
            <a:r>
              <a:rPr lang="en-US" altLang="en-US"/>
              <a:t>đ</a:t>
            </a:r>
            <a:r>
              <a:rPr lang="en-US" altLang="en-US"/>
              <a:t>ạt </a:t>
            </a:r>
            <a:r>
              <a:rPr lang="en-US" altLang="en-US"/>
              <a:t>đư</a:t>
            </a:r>
            <a:r>
              <a:rPr lang="en-US" altLang="en-US"/>
              <a:t>ợc tiêu chí dừng.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Kết hợp các dự </a:t>
            </a:r>
            <a:r>
              <a:rPr lang="en-US" altLang="en-US"/>
              <a:t>đ</a:t>
            </a:r>
            <a:r>
              <a:rPr lang="en-US" altLang="en-US"/>
              <a:t>oán : Dự </a:t>
            </a:r>
            <a:r>
              <a:rPr lang="en-US" altLang="en-US"/>
              <a:t>đ</a:t>
            </a:r>
            <a:r>
              <a:rPr lang="en-US" altLang="en-US"/>
              <a:t>oán cuối cùng là tổng của các dự </a:t>
            </a:r>
            <a:r>
              <a:rPr lang="en-US" altLang="en-US"/>
              <a:t>đ</a:t>
            </a:r>
            <a:r>
              <a:rPr lang="en-US" altLang="en-US"/>
              <a:t>oán từ tất cả các cây quyết </a:t>
            </a:r>
            <a:r>
              <a:rPr lang="en-US" altLang="en-US"/>
              <a:t>đ</a:t>
            </a:r>
            <a:r>
              <a:rPr lang="en-US" altLang="en-US"/>
              <a:t>ịnh.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Kết quả thực nghiệm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6293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So sánh hiệu năng Random Forest và XGBoost trên 4 kịch bản dữ liệu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43800" y="1600200"/>
            <a:ext cx="3291840" cy="384048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Tổng hợp Accuracy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60920" y="2148840"/>
          <a:ext cx="3703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Kịch bản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</a:t>
                      </a:r>
                      <a:r>
                        <a:rPr lang="en-US"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andomForest</a:t>
                      </a:r>
                      <a:endParaRPr lang="en-US"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XGB</a:t>
                      </a:r>
                      <a:r>
                        <a:rPr lang="en-US"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oost</a:t>
                      </a:r>
                      <a:endParaRPr lang="en-US"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Thô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92,7%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94,1%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Z-score + SMOTE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98,4%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Z-score + SMOTE</a:t>
                      </a:r>
                      <a:r>
                        <a:rPr lang="en-US"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 </a:t>
                      </a:r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+ MFCM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98,6%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8FC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Z-score + SMOTE</a:t>
                      </a:r>
                      <a:r>
                        <a:rPr lang="en-US" sz="860" b="1">
                          <a:solidFill>
                            <a:srgbClr val="1F2937"/>
                          </a:solidFill>
                          <a:latin typeface="Arial" panose="020B0604020202020204"/>
                          <a:sym typeface="+mn-ea"/>
                        </a:rPr>
                        <a:t> </a:t>
                      </a:r>
                      <a:r>
                        <a:rPr sz="860" b="1">
                          <a:solidFill>
                            <a:srgbClr val="1F2937"/>
                          </a:solidFill>
                          <a:latin typeface="Arial" panose="020B0604020202020204"/>
                        </a:rPr>
                        <a:t>+ FCM</a:t>
                      </a:r>
                      <a:endParaRPr sz="860" b="1">
                        <a:solidFill>
                          <a:srgbClr val="1F2937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98,5%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0B2545"/>
                          </a:solidFill>
                          <a:latin typeface="Arial" panose="020B0604020202020204"/>
                        </a:rPr>
                        <a:t>98,8%</a:t>
                      </a:r>
                      <a:endParaRPr sz="860" b="1">
                        <a:solidFill>
                          <a:srgbClr val="0B2545"/>
                        </a:solidFill>
                        <a:latin typeface="Arial" panose="020B060402020202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52360" y="4709160"/>
            <a:ext cx="3657600" cy="927100"/>
          </a:xfrm>
          <a:prstGeom prst="roundRect">
            <a:avLst/>
          </a:prstGeom>
          <a:solidFill>
            <a:srgbClr val="EB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855464"/>
            <a:ext cx="347472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Tổng kết: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RandomForest: 98,6%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  <a:p>
            <a:pPr algn="l"/>
            <a:r>
              <a:rPr lang="en-US" sz="1300" b="1">
                <a:solidFill>
                  <a:srgbClr val="0B2545"/>
                </a:solidFill>
                <a:latin typeface="Arial" panose="020B0604020202020204"/>
              </a:rPr>
              <a:t>XGBoost: 98,8%</a:t>
            </a:r>
            <a:endParaRPr lang="en-US" sz="13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13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  <p:pic>
        <p:nvPicPr>
          <p:cNvPr id="17" name="Picture 16" descr="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821180"/>
            <a:ext cx="6805295" cy="385191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THỰC NGHIỆM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Nhận xét và lựa chọn mô hình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64200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Kết quả cho thấy tiền xử lý và cân bằng dữ liệu đóng vai trò quyết định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856232"/>
            <a:ext cx="82296" cy="877824"/>
          </a:xfrm>
          <a:prstGeom prst="round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48656" y="1874520"/>
            <a:ext cx="292608" cy="292608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8379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SMOTE cải thiện rõ rệt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585" y="2144141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>
                <a:solidFill>
                  <a:schemeClr val="tx1"/>
                </a:solidFill>
                <a:latin typeface="Arial" panose="020B0604020202020204"/>
              </a:rPr>
              <a:t>Random Forest tăng từ 92,7% lên 98,4%; XGBoost tăng từ 94,1% lên 98,8%.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1856232"/>
            <a:ext cx="82296" cy="877824"/>
          </a:xfrm>
          <a:prstGeom prst="roundRect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35056" y="1874520"/>
            <a:ext cx="292608" cy="292608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79" y="18379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MFCM giúp Random Forest tăng nhẹ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79" y="2144141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Khi bổ sung membership từ MFCM, Random Forest đạt 98,6%.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" y="3456432"/>
            <a:ext cx="82296" cy="87782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48656" y="347472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34381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XGBoost ổn định nhất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4585" y="3799586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XGBoost duy trì 98,8% sau các bước bổ sung đặc trưng phân cụm.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3291840"/>
            <a:ext cx="4983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3456432"/>
            <a:ext cx="82296" cy="87782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35056" y="3474720"/>
            <a:ext cx="292608" cy="2926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79" y="3438144"/>
            <a:ext cx="4480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Arial" panose="020B0604020202020204"/>
              </a:rPr>
              <a:t>Ý nghĩa thực nghiệm</a:t>
            </a:r>
            <a:endParaRPr sz="15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79" y="3799586"/>
            <a:ext cx="44805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rial" panose="020B0604020202020204"/>
              </a:rPr>
              <a:t>Quy trình xử lý dữ liệu giúp mô hình nhận diện tốt hơn các lớp thiểu số.</a:t>
            </a:r>
            <a:endParaRPr sz="1400" b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88720" y="5166360"/>
            <a:ext cx="9784080" cy="6858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358384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Mô hình khuyến nghị trong phạm vi thực nghiệm: XGBoost + dữ liệu đã xử lý + SMOTE + đặc trưng MFCM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14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210312"/>
            <a:ext cx="2834640" cy="329184"/>
          </a:xfrm>
          <a:prstGeom prst="roundRect">
            <a:avLst/>
          </a:prstGeom>
          <a:solidFill>
            <a:srgbClr val="DD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B2545"/>
                </a:solidFill>
                <a:latin typeface="Arial" panose="020B0604020202020204"/>
              </a:rPr>
              <a:t>HỆ THỐNG</a:t>
            </a:r>
            <a:endParaRPr sz="85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Arial" panose="020B0604020202020204"/>
              </a:rPr>
              <a:t>Hệ thống dự đoán dữ liệu</a:t>
            </a:r>
            <a:endParaRPr sz="280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097280"/>
            <a:ext cx="5602605" cy="30670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>
                <a:solidFill>
                  <a:schemeClr val="tx1"/>
                </a:solidFill>
                <a:latin typeface="Arial" panose="020B0604020202020204"/>
              </a:rPr>
              <a:t>Minh họa luồng xử lý khi người dùng gửi dữ liệu đầu vào lên hệ thống</a:t>
            </a:r>
            <a:endParaRPr sz="140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A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Người dùng
nhập chỉ số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76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API nhận
dữ liệu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Tiền xử lý
&amp; scale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4944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A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Nạp mô hình
đã huấn luyện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350008"/>
            <a:ext cx="320040" cy="0"/>
          </a:xfrm>
          <a:prstGeom prst="line">
            <a:avLst/>
          </a:prstGeom>
          <a:ln w="20320">
            <a:solidFill>
              <a:srgbClr val="2A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1965960"/>
            <a:ext cx="160020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40" b="1">
                <a:solidFill>
                  <a:srgbClr val="0B2545"/>
                </a:solidFill>
                <a:latin typeface="Arial" panose="020B0604020202020204"/>
              </a:rPr>
              <a:t>Trả kết quả
phân loại</a:t>
            </a:r>
            <a:endParaRPr sz="1040" b="1">
              <a:solidFill>
                <a:srgbClr val="0B2545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22045" y="2927985"/>
            <a:ext cx="4501515" cy="2996565"/>
          </a:xfrm>
          <a:prstGeom prst="roundRect">
            <a:avLst/>
          </a:prstGeom>
          <a:solidFill>
            <a:srgbClr val="FFFFFF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3064510"/>
            <a:ext cx="3872865" cy="277749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3657600"/>
            <a:ext cx="4434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94760"/>
            <a:ext cx="4160520" cy="12472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53583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Dữ liệu đầu vào gửi lên API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53583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 panose="020B0604020202020204"/>
              </a:rPr>
              <a:t>Kết quả trả về từ mô hình</a:t>
            </a:r>
            <a:endParaRPr sz="1050" b="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10835640" cy="9144"/>
          </a:xfrm>
          <a:prstGeom prst="rect">
            <a:avLst/>
          </a:prstGeom>
          <a:solidFill>
            <a:srgbClr val="D2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>
                <a:solidFill>
                  <a:srgbClr val="6B7280"/>
                </a:solidFill>
                <a:latin typeface="Arial" panose="020B0604020202020204"/>
              </a:rPr>
              <a:t>Đồ án tốt nghiệp CNTT | Hệ thống hỗ trợ phát hiện sớm suy thai</a:t>
            </a:r>
            <a:endParaRPr sz="760">
              <a:solidFill>
                <a:srgbClr val="6B7280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AA7A3"/>
                </a:solidFill>
                <a:latin typeface="Arial" panose="020B0604020202020204"/>
              </a:rPr>
              <a:t>15</a:t>
            </a:r>
            <a:endParaRPr sz="800" b="1">
              <a:solidFill>
                <a:srgbClr val="2AA7A3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2A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394960"/>
            <a:ext cx="2926080" cy="2926080"/>
          </a:xfrm>
          <a:prstGeom prst="ellipse">
            <a:avLst/>
          </a:prstGeom>
          <a:solidFill>
            <a:srgbClr val="197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 panose="020B0604020202020204"/>
              </a:rPr>
              <a:t>Kết luận và hướng phát triển</a:t>
            </a:r>
            <a:endParaRPr sz="3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4358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FEBEE"/>
                </a:solidFill>
                <a:latin typeface="Arial" panose="020B0604020202020204"/>
              </a:rPr>
              <a:t>Đề tài đã xây dựng được quy trình hỗ trợ phát hiện sớm tình trạng suy thai dựa trên dữ liệu CTG và các mô hình học máy.</a:t>
            </a:r>
            <a:endParaRPr sz="1300" b="0">
              <a:solidFill>
                <a:srgbClr val="CFEBEE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166360" cy="297180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3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Kết quả đạt được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2788920"/>
            <a:ext cx="4617720" cy="1783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Hoàn thiện quy trình xử lý dữ liệu: duplicate, Z-score, SMOTE, FCM/MFCM.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So sánh Random Forest và XGBoost trên nhiều kịch bản dữ liệu.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XGBoost đạt Accuracy cao nhất 98,8% trong phạm vi thực nghiệm.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2AA7A3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Xây dựng luồng dự đoán dữ liệu qua mô hình đã huấn luyện.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074920" cy="2971800"/>
          </a:xfrm>
          <a:prstGeom prst="roundRect">
            <a:avLst/>
          </a:prstGeom>
          <a:solidFill>
            <a:srgbClr val="14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13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Hướng phát triển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5392" y="2788920"/>
            <a:ext cx="4572000" cy="1783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Mở rộng dữ liệu thực tế và dữ liệu lâm sàng đa nguồn.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Bổ sung giải thích mô hình như feature importance hoặc SHAP.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Tối ưu tham số, thử nghiệm thêm mô hình học sâu/học máy nâng cao.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20" b="1">
                <a:solidFill>
                  <a:srgbClr val="F4A261"/>
                </a:solidFill>
                <a:latin typeface="Arial" panose="020B0604020202020204"/>
              </a:rPr>
              <a:t>• </a:t>
            </a:r>
            <a:r>
              <a:rPr sz="1120">
                <a:solidFill>
                  <a:srgbClr val="E6F5F7"/>
                </a:solidFill>
                <a:latin typeface="Arial" panose="020B0604020202020204"/>
              </a:rPr>
              <a:t>Phát triển giao diện sử dụng và kiểm thử trong môi trường thực tế.</a:t>
            </a:r>
            <a:endParaRPr sz="1120">
              <a:solidFill>
                <a:srgbClr val="E6F5F7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5806440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 panose="020B0604020202020204"/>
              </a:rPr>
              <a:t>Xin cảm ơn thầy cô đã lắng nghe!</a:t>
            </a:r>
            <a:endParaRPr sz="2200" b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8328</Words>
  <Application>WPS Presentation</Application>
  <PresentationFormat>On-screen Show (4:3)</PresentationFormat>
  <Paragraphs>441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Wingdings</vt:lpstr>
      <vt:lpstr>Calibri</vt:lpstr>
      <vt:lpstr>Microsoft YaHei</vt:lpstr>
      <vt:lpstr>Arial Unicode MS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music office</cp:lastModifiedBy>
  <cp:revision>42</cp:revision>
  <dcterms:created xsi:type="dcterms:W3CDTF">2013-01-27T09:14:00Z</dcterms:created>
  <dcterms:modified xsi:type="dcterms:W3CDTF">2026-05-18T15:13:00Z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9E398CB1055545DCB656585887F7A1FD_12</vt:lpwstr>
  </property>
</Properties>
</file>